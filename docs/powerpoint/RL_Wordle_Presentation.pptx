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B"/>
                </a:solidFill>
                <a:latin typeface="Arial"/>
              </a:defRPr>
            </a:pPr>
            <a:r>
              <a:rPr sz="1300" b="0" i="0" u="none" strike="noStrike">
                <a:solidFill>
                  <a:srgbClr val="1A1A1B"/>
                </a:solidFill>
                <a:latin typeface="Arial"/>
              </a:rPr>
              <a:t>True value of each opening word (7 arms)</a:t>
            </a:r>
          </a:p>
        </c:rich>
      </c:tx>
      <c:layout/>
      <c:overlay val="0"/>
    </c:title>
    <c:autoTitleDeleted val="0"/>
    <c:plotArea>
      <c:layout/>
      <c:barChart>
        <c:barDir val="bar"/>
        <c:grouping val="clustered"/>
        <c:varyColors val="0"/>
        <c:ser>
          <c:idx val="0"/>
          <c:order val="0"/>
          <c:tx>
            <c:strRef>
              <c:f>Sheet1!$B$1</c:f>
              <c:strCache>
                <c:ptCount val="1"/>
                <c:pt idx="0">
                  <c:v>Expected information (bits)</c:v>
                </c:pt>
              </c:strCache>
            </c:strRef>
          </c:tx>
          <c:spPr>
            <a:solidFill>
              <a:srgbClr val="6AAA64"/>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SALET</c:v>
                  </c:pt>
                  <c:pt idx="1">
                    <c:v>RAISE</c:v>
                  </c:pt>
                  <c:pt idx="2">
                    <c:v>SLATE</c:v>
                  </c:pt>
                  <c:pt idx="3">
                    <c:v>CRANE</c:v>
                  </c:pt>
                  <c:pt idx="4">
                    <c:v>ADIEU</c:v>
                  </c:pt>
                  <c:pt idx="5">
                    <c:v>AUDIO</c:v>
                  </c:pt>
                  <c:pt idx="6">
                    <c:v>MUMMY</c:v>
                  </c:pt>
                </c:lvl>
              </c:multiLvlStrCache>
            </c:multiLvlStrRef>
          </c:cat>
          <c:val>
            <c:numRef>
              <c:f>Sheet1!$B$2:$B$8</c:f>
              <c:numCache>
                <c:formatCode>General</c:formatCode>
                <c:ptCount val="7"/>
                <c:pt idx="0">
                  <c:v>6.061</c:v>
                </c:pt>
                <c:pt idx="1">
                  <c:v>5.928</c:v>
                </c:pt>
                <c:pt idx="2">
                  <c:v>5.915</c:v>
                </c:pt>
                <c:pt idx="3">
                  <c:v>5.389</c:v>
                </c:pt>
                <c:pt idx="4">
                  <c:v>4.972</c:v>
                </c:pt>
                <c:pt idx="5">
                  <c:v>4.701</c:v>
                </c:pt>
                <c:pt idx="6">
                  <c:v>2.512</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B"/>
                </a:solidFill>
                <a:latin typeface="Arial"/>
              </a:defRPr>
            </a:pPr>
            <a:endParaRPr lang="en-US"/>
          </a:p>
        </c:txPr>
        <c:crossAx val="2094734552"/>
        <c:crosses val="autoZero"/>
        <c:auto val="1"/>
        <c:lblAlgn val="ctr"/>
        <c:noMultiLvlLbl val="1"/>
      </c:catAx>
      <c:valAx>
        <c:axId val="2094734552"/>
        <c:scaling>
          <c:orientation val="minMax"/>
          <c:max val="7"/>
          <c:min val="0"/>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36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B"/>
                </a:solidFill>
                <a:latin typeface="Arial"/>
              </a:defRPr>
            </a:pPr>
            <a:r>
              <a:rPr sz="1300" b="0" i="0" u="none" strike="noStrike">
                <a:solidFill>
                  <a:srgbClr val="1A1A1B"/>
                </a:solidFill>
                <a:latin typeface="Arial"/>
              </a:rPr>
              <a:t>Measured V(s) by guesses remaining</a:t>
            </a:r>
          </a:p>
        </c:rich>
      </c:tx>
      <c:layout/>
      <c:overlay val="0"/>
    </c:title>
    <c:autoTitleDeleted val="0"/>
    <c:plotArea>
      <c:layout/>
      <c:barChart>
        <c:barDir val="col"/>
        <c:grouping val="clustered"/>
        <c:varyColors val="0"/>
        <c:ser>
          <c:idx val="0"/>
          <c:order val="0"/>
          <c:tx>
            <c:strRef>
              <c:f>Sheet1!$B$1</c:f>
              <c:strCache>
                <c:ptCount val="1"/>
                <c:pt idx="0">
                  <c:v>V(s)</c:v>
                </c:pt>
              </c:strCache>
            </c:strRef>
          </c:tx>
          <c:spPr>
            <a:solidFill>
              <a:srgbClr val="6AAA64"/>
            </a:solidFill>
            <a:effectLst/>
          </c:spPr>
          <c:invertIfNegative val="0"/>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6 left</c:v>
                  </c:pt>
                  <c:pt idx="1">
                    <c:v>5 left</c:v>
                  </c:pt>
                  <c:pt idx="2">
                    <c:v>4 left</c:v>
                  </c:pt>
                  <c:pt idx="3">
                    <c:v>3 left</c:v>
                  </c:pt>
                  <c:pt idx="4">
                    <c:v>2 left</c:v>
                  </c:pt>
                </c:lvl>
              </c:multiLvlStrCache>
            </c:multiLvlStrRef>
          </c:cat>
          <c:val>
            <c:numRef>
              <c:f>Sheet1!$B$2:$B$6</c:f>
              <c:numCache>
                <c:formatCode>General</c:formatCode>
                <c:ptCount val="5"/>
                <c:pt idx="0">
                  <c:v>15.99</c:v>
                </c:pt>
                <c:pt idx="1">
                  <c:v>14.93</c:v>
                </c:pt>
                <c:pt idx="2">
                  <c:v>14.21</c:v>
                </c:pt>
                <c:pt idx="3">
                  <c:v>12.85</c:v>
                </c:pt>
                <c:pt idx="4">
                  <c:v>11</c:v>
                </c:pt>
              </c:numCache>
            </c:numRef>
          </c:val>
        </c:ser>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A1A1B"/>
                </a:solidFill>
                <a:latin typeface="Arial"/>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36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Random over mask</c:v>
                </c:pt>
              </c:strCache>
            </c:strRef>
          </c:tx>
          <c:spPr>
            <a:solidFill>
              <a:srgbClr val="787C7E"/>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200 words</c:v>
                  </c:pt>
                  <c:pt idx="1">
                    <c:v>2,309 words</c:v>
                  </c:pt>
                  <c:pt idx="2">
                    <c:v>8,636 words</c:v>
                  </c:pt>
                </c:lvl>
              </c:multiLvlStrCache>
            </c:multiLvlStrRef>
          </c:cat>
          <c:val>
            <c:numRef>
              <c:f>Sheet1!$B$2:$B$4</c:f>
              <c:numCache>
                <c:formatCode>General</c:formatCode>
                <c:ptCount val="3"/>
                <c:pt idx="0">
                  <c:v>93.7</c:v>
                </c:pt>
                <c:pt idx="1">
                  <c:v>81.6</c:v>
                </c:pt>
                <c:pt idx="2">
                  <c:v>66.6</c:v>
                </c:pt>
              </c:numCache>
            </c:numRef>
          </c:val>
        </c:ser>
        <c:ser>
          <c:idx val="1"/>
          <c:order val="1"/>
          <c:tx>
            <c:strRef>
              <c:f>Sheet1!$C$1</c:f>
              <c:strCache>
                <c:ptCount val="1"/>
                <c:pt idx="0">
                  <c:v>DQN (ours)</c:v>
                </c:pt>
              </c:strCache>
            </c:strRef>
          </c:tx>
          <c:spPr>
            <a:solidFill>
              <a:srgbClr val="C9B458"/>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200 words</c:v>
                  </c:pt>
                  <c:pt idx="1">
                    <c:v>2,309 words</c:v>
                  </c:pt>
                  <c:pt idx="2">
                    <c:v>8,636 words</c:v>
                  </c:pt>
                </c:lvl>
              </c:multiLvlStrCache>
            </c:multiLvlStrRef>
          </c:cat>
          <c:val>
            <c:numRef>
              <c:f>Sheet1!$C$2:$C$4</c:f>
              <c:numCache>
                <c:formatCode>General</c:formatCode>
                <c:ptCount val="3"/>
                <c:pt idx="0">
                  <c:v>99</c:v>
                </c:pt>
                <c:pt idx="1">
                  <c:v>88.9</c:v>
                </c:pt>
                <c:pt idx="2">
                  <c:v>69.4</c:v>
                </c:pt>
              </c:numCache>
            </c:numRef>
          </c:val>
        </c:ser>
        <c:ser>
          <c:idx val="2"/>
          <c:order val="2"/>
          <c:tx>
            <c:strRef>
              <c:f>Sheet1!$D$1</c:f>
              <c:strCache>
                <c:ptCount val="1"/>
                <c:pt idx="0">
                  <c:v>Entropy heuristic</c:v>
                </c:pt>
              </c:strCache>
            </c:strRef>
          </c:tx>
          <c:spPr>
            <a:solidFill>
              <a:srgbClr val="6AAA64"/>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200 words</c:v>
                  </c:pt>
                  <c:pt idx="1">
                    <c:v>2,309 words</c:v>
                  </c:pt>
                  <c:pt idx="2">
                    <c:v>8,636 words</c:v>
                  </c:pt>
                </c:lvl>
              </c:multiLvlStrCache>
            </c:multiLvlStrRef>
          </c:cat>
          <c:val>
            <c:numRef>
              <c:f>Sheet1!$D$2:$D$4</c:f>
              <c:numCache>
                <c:formatCode>General</c:formatCode>
                <c:ptCount val="3"/>
                <c:pt idx="0">
                  <c:v>100</c:v>
                </c:pt>
                <c:pt idx="1">
                  <c:v>100</c:v>
                </c:pt>
                <c:pt idx="2">
                  <c:v>99.7</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A1A1B"/>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6E6E6"/>
              </a:solidFill>
              <a:prstDash val="solid"/>
              <a:round/>
            </a:ln>
          </c:spPr>
        </c:majorGridlines>
        <c:title>
          <c:tx>
            <c:rich>
              <a:bodyPr/>
              <a:lstStyle/>
              <a:p>
                <a:pPr>
                  <a:defRPr sz="1100" b="0" i="0" u="none" strike="noStrike">
                    <a:solidFill>
                      <a:srgbClr val="000000"/>
                    </a:solidFill>
                    <a:latin typeface="Arial"/>
                  </a:defRPr>
                </a:pPr>
                <a:r>
                  <a:rPr sz="1100" b="0" i="0" u="none" strike="noStrike">
                    <a:solidFill>
                      <a:srgbClr val="000000"/>
                    </a:solidFill>
                    <a:latin typeface="Arial"/>
                  </a:rPr>
                  <a:t>Win rate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368"/>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B"/>
                </a:solidFill>
                <a:latin typeface="Arial"/>
              </a:defRPr>
            </a:pPr>
            <a:r>
              <a:rPr sz="1200" b="0" i="0" u="none" strike="noStrike">
                <a:solidFill>
                  <a:srgbClr val="1A1A1B"/>
                </a:solidFill>
                <a:latin typeface="Arial"/>
              </a:rPr>
              <a:t>Same trained network, no retraining</a:t>
            </a:r>
          </a:p>
        </c:rich>
      </c:tx>
      <c:layout/>
      <c:overlay val="0"/>
    </c:title>
    <c:autoTitleDeleted val="0"/>
    <c:plotArea>
      <c:layout/>
      <c:barChart>
        <c:barDir val="col"/>
        <c:grouping val="clustered"/>
        <c:varyColors val="0"/>
        <c:ser>
          <c:idx val="0"/>
          <c:order val="0"/>
          <c:tx>
            <c:strRef>
              <c:f>Sheet1!$B$1</c:f>
              <c:strCache>
                <c:ptCount val="1"/>
                <c:pt idx="0">
                  <c:v>Original mask</c:v>
                </c:pt>
              </c:strCache>
            </c:strRef>
          </c:tx>
          <c:spPr>
            <a:solidFill>
              <a:srgbClr val="787C7E"/>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200</c:v>
                  </c:pt>
                  <c:pt idx="1">
                    <c:v>2,309</c:v>
                  </c:pt>
                  <c:pt idx="2">
                    <c:v>8,636</c:v>
                  </c:pt>
                </c:lvl>
              </c:multiLvlStrCache>
            </c:multiLvlStrRef>
          </c:cat>
          <c:val>
            <c:numRef>
              <c:f>Sheet1!$B$2:$B$4</c:f>
              <c:numCache>
                <c:formatCode>General</c:formatCode>
                <c:ptCount val="3"/>
                <c:pt idx="0">
                  <c:v>99</c:v>
                </c:pt>
                <c:pt idx="1">
                  <c:v>88.7</c:v>
                </c:pt>
                <c:pt idx="2">
                  <c:v>71.8</c:v>
                </c:pt>
              </c:numCache>
            </c:numRef>
          </c:val>
        </c:ser>
        <c:ser>
          <c:idx val="1"/>
          <c:order val="1"/>
          <c:tx>
            <c:strRef>
              <c:f>Sheet1!$C$1</c:f>
              <c:strCache>
                <c:ptCount val="1"/>
                <c:pt idx="0">
                  <c:v>Corrected mask</c:v>
                </c:pt>
              </c:strCache>
            </c:strRef>
          </c:tx>
          <c:spPr>
            <a:solidFill>
              <a:srgbClr val="6AAA64"/>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200</c:v>
                  </c:pt>
                  <c:pt idx="1">
                    <c:v>2,309</c:v>
                  </c:pt>
                  <c:pt idx="2">
                    <c:v>8,636</c:v>
                  </c:pt>
                </c:lvl>
              </c:multiLvlStrCache>
            </c:multiLvlStrRef>
          </c:cat>
          <c:val>
            <c:numRef>
              <c:f>Sheet1!$C$2:$C$4</c:f>
              <c:numCache>
                <c:formatCode>General</c:formatCode>
                <c:ptCount val="3"/>
                <c:pt idx="0">
                  <c:v>99.5</c:v>
                </c:pt>
                <c:pt idx="1">
                  <c:v>95.7</c:v>
                </c:pt>
                <c:pt idx="2">
                  <c:v>88.6</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1B"/>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368"/>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our Reinforcement Learning final project: a Deep Q-Network that learns to play Wordle, packaged as a decision-support tool. Beyond building the agent, we will also show you what we found when we checked our own evaluation pipeline, which ended up being one of the most important results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Wordle has three properties that make it a natural RL problem. First, it is partially observable: the agent never sees the secret word, only feedback. Second, the action space is large: up to 8,636 words. Third, it is sequential: the best guess is often one that eliminates the most possibilities, not one that could win right now. In this real example, TARES does not win, but it tells us A, R and E are in the word, and CRANE solves it on the second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general objective was to build an agent that learns Wordle and to compare it fairly. We had six specific objectives. The last one, validating the evaluation pipeline, was added during the project after we found problems in how our results were being measured, and it turned out to matter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has four steps. We model the game as an MDP, compress the feedback into a 183-number state, mask out words that contradict what we already know, and use a Deep Q-Network to learn the value of each guess. The central insight of Wordle strategy is that a guess can be excellent even if it cannot win, because it removes uncertainty. We build that directly into the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RL loop. The agent, our DQN, picks a word. The environment, our Wordle simulator, returns feedback and a reward, and the agent sees a new state. On the right is how each RL component maps onto our system. The policy is epsilon-greedy over the masked words: with probability epsilon it explores randomly, otherwise it picks the word with the highest predicted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full problem, we isolated one decision: which word to open with. Each opening word is an arm, and the reward is information gained. Pure greedy found the best arm in zero of thirty runs, because it committed to RAISE early and never checked the alternatives. Epsilon-greedy at 0.10 found SALET 38.7 percent of the time. Interestingly, RAISE was exactly the opener our own system had cached, and a full search ranks it only 32nd on our word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model Wordle as an MDP with five parts. States, actions, rewards and gamma are on the left. Transitions are the interesting part. If you knew the secret word, transitions would be deterministic. But the agent does not know it, so from its point of view the next state is random: the chance of seeing a feedback pattern is the fraction of remaining candidate words that would produce it. Technically Wordle is a POMDP, and we turn it into an MDP by using the constraint vector as a belief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is 183 numbers. 130 for green, because green is positional: 5 positions times 26 letters. 26 each for yellow and gray, because those are just sets of letters. And 1 for guesses left. We store constraints, not history, which is what makes the state Markov. The reward charges 1 per guess, pays for information gained in bits, and gives a bonus that shrinks the longer you take. Adding it up, solving on guess k gives 22 minus 3k. Every extra guess costs 3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function V of s is the expected total reward from a state. We measured it directly by running the policy over every word in the 200-word pool. Value falls steadily as the guess budget is used up, from about 16 with six guesses left to 11 with two. That is exactly the behavior our reward design intends.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algorithm is DQN with three upgrades plus a curriculum. Double DQN separates choosing the next action from scoring it, which fixes a known overestimation problem. Prioritized replay revisits the experiences the agent got most wrong. Action masking blocks impossible words both when acting and when computing training targets. And the curriculum starts small and grows the word pool in seven stages. Key settings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network. Instead of one output per word, it takes the state and a word as two separate inputs, encodes each, joins them, and outputs one score. That design means it can score any five-letter word, which is what lets the word pool grow during training. Everything is in Python and PyTorch, runs on a normal CPU, and a full 20,000-episode run takes about 32 minutes. We also built a live dashboard and an assistant for the real Wordle. This would be a good moment for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measured results, evaluated on every word in each pool. Gray is random selection over the mask, which is literally our agent before any learning. Yellow is our DQN. Green is the entropy heuristic. Our agent beats the random floor at every size, so learning clearly helped. But it does not match the heuristic, and the gap grows from 1 point to 30 points as the pool grows. The heuristic is a ceiling: it computes the exact answer distribution every turn and uses a larger vocabulary. The next slide explains a large part of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Investigating the gap, we found a bug in our own environment. When a letter appeared twice in a guess, for example gray in one spot and green in another, the code could mark that letter as both present and absent. No word can satisfy that, so the mask emptied, and a fallback allowed every word. The agent lost everything it knew and played the rest of the game blind. This happened in about one game in five. Fixing it, with the exact same trained network and no retraining, raised the win rate on the largest pool from 71.8 to 88.6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four more problems in how results were measured, and every single one made us look better than we were. The benchmark sampled alphabetically, the out-of-distribution test could never score above zero, the training curve always tested the same 50 words, and an earlier chart had values typed in by hand. We corrected all of them and every number in this presentation is measured. The lesson: in RL, the environment produces the training signal, so validating it matters as much as designing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a complete RL pipeline for Wordle. The agent learns, since it beats its own untrained baseline at every pool size. And we validated our work, which uncovered an environment bug worth 16.8 points and four measurement errors. Our first next step is to retrain from scratch on the corrected environment, since 88.6 percent was reached by a network trained under the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3"/>
        </a:solidFill>
      </p:bgPr>
    </p:bg>
    <p:spTree>
      <p:nvGrpSpPr>
        <p:cNvPr id="1" name=""/>
        <p:cNvGrpSpPr/>
        <p:nvPr/>
      </p:nvGrpSpPr>
      <p:grpSpPr>
        <a:xfrm>
          <a:off x="0" y="0"/>
          <a:ext cx="0" cy="0"/>
          <a:chOff x="0" y="0"/>
          <a:chExt cx="0" cy="0"/>
        </a:xfrm>
      </p:grpSpPr>
      <p:sp>
        <p:nvSpPr>
          <p:cNvPr id="2" name="Text 0"/>
          <p:cNvSpPr txBox="1"/>
          <p:nvPr/>
        </p:nvSpPr>
        <p:spPr>
          <a:xfrm>
            <a:off x="731520" y="777240"/>
            <a:ext cx="749808" cy="749808"/>
          </a:xfrm>
          <a:prstGeom prst="roundRect">
            <a:avLst>
              <a:gd name="adj" fmla="val 7317"/>
            </a:avLst>
          </a:prstGeom>
          <a:solidFill>
            <a:srgbClr val="6AAA64"/>
          </a:solidFill>
          <a:ln>
            <a:solidFill>
              <a:srgbClr val="6AAA64"/>
            </a:solid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W</a:t>
            </a:r>
            <a:endParaRPr lang="en-US" sz="3400" dirty="0"/>
          </a:p>
        </p:txBody>
      </p:sp>
      <p:sp>
        <p:nvSpPr>
          <p:cNvPr id="3" name="Text 1"/>
          <p:cNvSpPr txBox="1"/>
          <p:nvPr/>
        </p:nvSpPr>
        <p:spPr>
          <a:xfrm>
            <a:off x="1600200" y="777240"/>
            <a:ext cx="749808" cy="749808"/>
          </a:xfrm>
          <a:prstGeom prst="roundRect">
            <a:avLst>
              <a:gd name="adj" fmla="val 7317"/>
            </a:avLst>
          </a:prstGeom>
          <a:solidFill>
            <a:srgbClr val="787C7E"/>
          </a:solidFill>
          <a:ln>
            <a:solidFill>
              <a:srgbClr val="787C7E"/>
            </a:solid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O</a:t>
            </a:r>
            <a:endParaRPr lang="en-US" sz="3400" dirty="0"/>
          </a:p>
        </p:txBody>
      </p:sp>
      <p:sp>
        <p:nvSpPr>
          <p:cNvPr id="4" name="Text 2"/>
          <p:cNvSpPr txBox="1"/>
          <p:nvPr/>
        </p:nvSpPr>
        <p:spPr>
          <a:xfrm>
            <a:off x="2468880" y="777240"/>
            <a:ext cx="749808" cy="749808"/>
          </a:xfrm>
          <a:prstGeom prst="roundRect">
            <a:avLst>
              <a:gd name="adj" fmla="val 7317"/>
            </a:avLst>
          </a:prstGeom>
          <a:solidFill>
            <a:srgbClr val="C9B458"/>
          </a:solidFill>
          <a:ln>
            <a:solidFill>
              <a:srgbClr val="C9B458"/>
            </a:solid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R</a:t>
            </a:r>
            <a:endParaRPr lang="en-US" sz="3400" dirty="0"/>
          </a:p>
        </p:txBody>
      </p:sp>
      <p:sp>
        <p:nvSpPr>
          <p:cNvPr id="5" name="Text 3"/>
          <p:cNvSpPr txBox="1"/>
          <p:nvPr/>
        </p:nvSpPr>
        <p:spPr>
          <a:xfrm>
            <a:off x="3337560" y="777240"/>
            <a:ext cx="749808" cy="749808"/>
          </a:xfrm>
          <a:prstGeom prst="roundRect">
            <a:avLst>
              <a:gd name="adj" fmla="val 7317"/>
            </a:avLst>
          </a:prstGeom>
          <a:solidFill>
            <a:srgbClr val="6AAA64"/>
          </a:solidFill>
          <a:ln>
            <a:solidFill>
              <a:srgbClr val="6AAA64"/>
            </a:solid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D</a:t>
            </a:r>
            <a:endParaRPr lang="en-US" sz="3400" dirty="0"/>
          </a:p>
        </p:txBody>
      </p:sp>
      <p:sp>
        <p:nvSpPr>
          <p:cNvPr id="6" name="Text 4"/>
          <p:cNvSpPr txBox="1"/>
          <p:nvPr/>
        </p:nvSpPr>
        <p:spPr>
          <a:xfrm>
            <a:off x="4206240" y="777240"/>
            <a:ext cx="749808" cy="749808"/>
          </a:xfrm>
          <a:prstGeom prst="roundRect">
            <a:avLst>
              <a:gd name="adj" fmla="val 7317"/>
            </a:avLst>
          </a:prstGeom>
          <a:solidFill>
            <a:srgbClr val="787C7E"/>
          </a:solidFill>
          <a:ln>
            <a:solidFill>
              <a:srgbClr val="787C7E"/>
            </a:solid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L</a:t>
            </a:r>
            <a:endParaRPr lang="en-US" sz="3400" dirty="0"/>
          </a:p>
        </p:txBody>
      </p:sp>
      <p:sp>
        <p:nvSpPr>
          <p:cNvPr id="7" name="Text 5"/>
          <p:cNvSpPr txBox="1"/>
          <p:nvPr/>
        </p:nvSpPr>
        <p:spPr>
          <a:xfrm>
            <a:off x="5074920" y="777240"/>
            <a:ext cx="749808" cy="749808"/>
          </a:xfrm>
          <a:prstGeom prst="roundRect">
            <a:avLst>
              <a:gd name="adj" fmla="val 7317"/>
            </a:avLst>
          </a:prstGeom>
          <a:solidFill>
            <a:srgbClr val="6AAA64"/>
          </a:solidFill>
          <a:ln>
            <a:solidFill>
              <a:srgbClr val="6AAA64"/>
            </a:solid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E</a:t>
            </a:r>
            <a:endParaRPr lang="en-US" sz="3400" dirty="0"/>
          </a:p>
        </p:txBody>
      </p:sp>
      <p:sp>
        <p:nvSpPr>
          <p:cNvPr id="8" name="Text 6"/>
          <p:cNvSpPr txBox="1"/>
          <p:nvPr/>
        </p:nvSpPr>
        <p:spPr>
          <a:xfrm>
            <a:off x="731520" y="1874520"/>
            <a:ext cx="10515600"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Reinforcement Learning for Wordle</a:t>
            </a:r>
            <a:endParaRPr lang="en-US" sz="4000" dirty="0"/>
          </a:p>
        </p:txBody>
      </p:sp>
      <p:sp>
        <p:nvSpPr>
          <p:cNvPr id="9" name="Text 7"/>
          <p:cNvSpPr txBox="1"/>
          <p:nvPr/>
        </p:nvSpPr>
        <p:spPr>
          <a:xfrm>
            <a:off x="731520" y="2606040"/>
            <a:ext cx="10515600" cy="457200"/>
          </a:xfrm>
          <a:prstGeom prst="rect">
            <a:avLst/>
          </a:prstGeom>
          <a:noFill/>
          <a:ln/>
        </p:spPr>
        <p:txBody>
          <a:bodyPr wrap="square" lIns="0" tIns="0" rIns="0" bIns="0" rtlCol="0" anchor="t"/>
          <a:lstStyle/>
          <a:p>
            <a:pPr indent="0" marL="0">
              <a:buNone/>
            </a:pPr>
            <a:r>
              <a:rPr lang="en-US" sz="2000" dirty="0">
                <a:solidFill>
                  <a:srgbClr val="C9CCD0"/>
                </a:solidFill>
                <a:latin typeface="Arial" pitchFamily="34" charset="0"/>
                <a:ea typeface="Arial" pitchFamily="34" charset="-122"/>
                <a:cs typeface="Arial" pitchFamily="34" charset="-120"/>
              </a:rPr>
              <a:t>A DQN-Based Decision Support System for Optimal Word Guessing</a:t>
            </a:r>
            <a:endParaRPr lang="en-US" sz="2000" dirty="0"/>
          </a:p>
        </p:txBody>
      </p:sp>
      <p:sp>
        <p:nvSpPr>
          <p:cNvPr id="10" name="Text 8"/>
          <p:cNvSpPr txBox="1"/>
          <p:nvPr/>
        </p:nvSpPr>
        <p:spPr>
          <a:xfrm>
            <a:off x="731520" y="3611880"/>
            <a:ext cx="4572000" cy="274320"/>
          </a:xfrm>
          <a:prstGeom prst="rect">
            <a:avLst/>
          </a:prstGeom>
          <a:noFill/>
          <a:ln/>
        </p:spPr>
        <p:txBody>
          <a:bodyPr wrap="square" lIns="0" tIns="0" rIns="0" bIns="0" rtlCol="0" anchor="t"/>
          <a:lstStyle/>
          <a:p>
            <a:pPr indent="0" marL="0">
              <a:buNone/>
            </a:pPr>
            <a:r>
              <a:rPr lang="en-US" sz="1100" b="1" spc="200" kern="0" dirty="0">
                <a:solidFill>
                  <a:srgbClr val="6AAA64"/>
                </a:solidFill>
                <a:latin typeface="Arial" pitchFamily="34" charset="0"/>
                <a:ea typeface="Arial" pitchFamily="34" charset="-122"/>
                <a:cs typeface="Arial" pitchFamily="34" charset="-120"/>
              </a:rPr>
              <a:t>GROUP MEMBERS</a:t>
            </a:r>
            <a:endParaRPr lang="en-US" sz="1100" dirty="0"/>
          </a:p>
        </p:txBody>
      </p:sp>
      <p:sp>
        <p:nvSpPr>
          <p:cNvPr id="11" name="Text 9"/>
          <p:cNvSpPr txBox="1"/>
          <p:nvPr/>
        </p:nvSpPr>
        <p:spPr>
          <a:xfrm>
            <a:off x="731520" y="3931920"/>
            <a:ext cx="3108960" cy="1280160"/>
          </a:xfrm>
          <a:prstGeom prst="rect">
            <a:avLst/>
          </a:prstGeom>
          <a:noFill/>
          <a:ln/>
        </p:spPr>
        <p:txBody>
          <a:bodyPr wrap="square" lIns="0" tIns="0" rIns="0" bIns="0" rtlCol="0" anchor="t"/>
          <a:lstStyle/>
          <a:p>
            <a:pPr indent="0" marL="0">
              <a:spcAft>
                <a:spcPts val="300"/>
              </a:spcAft>
              <a:buNone/>
            </a:pPr>
            <a:r>
              <a:rPr lang="en-US" sz="1350" dirty="0">
                <a:solidFill>
                  <a:srgbClr val="E8EAED"/>
                </a:solidFill>
                <a:latin typeface="Arial" pitchFamily="34" charset="0"/>
                <a:ea typeface="Arial" pitchFamily="34" charset="-122"/>
                <a:cs typeface="Arial" pitchFamily="34" charset="-120"/>
              </a:rPr>
              <a:t>Antonio, Mark Allen</a:t>
            </a:r>
            <a:endParaRPr lang="en-US" sz="1350" dirty="0"/>
          </a:p>
          <a:p>
            <a:pPr indent="0" marL="0">
              <a:spcAft>
                <a:spcPts val="300"/>
              </a:spcAft>
              <a:buNone/>
            </a:pPr>
            <a:r>
              <a:rPr lang="en-US" sz="1350" dirty="0">
                <a:solidFill>
                  <a:srgbClr val="E8EAED"/>
                </a:solidFill>
                <a:latin typeface="Arial" pitchFamily="34" charset="0"/>
                <a:ea typeface="Arial" pitchFamily="34" charset="-122"/>
                <a:cs typeface="Arial" pitchFamily="34" charset="-120"/>
              </a:rPr>
              <a:t>Castro, James Adrian B.</a:t>
            </a:r>
            <a:endParaRPr lang="en-US" sz="1350" dirty="0"/>
          </a:p>
          <a:p>
            <a:pPr indent="0" marL="0">
              <a:spcAft>
                <a:spcPts val="300"/>
              </a:spcAft>
              <a:buNone/>
            </a:pPr>
            <a:r>
              <a:rPr lang="en-US" sz="1350" dirty="0">
                <a:solidFill>
                  <a:srgbClr val="E8EAED"/>
                </a:solidFill>
                <a:latin typeface="Arial" pitchFamily="34" charset="0"/>
                <a:ea typeface="Arial" pitchFamily="34" charset="-122"/>
                <a:cs typeface="Arial" pitchFamily="34" charset="-120"/>
              </a:rPr>
              <a:t>Glodo, Jannah Cleine</a:t>
            </a:r>
            <a:endParaRPr lang="en-US" sz="1350" dirty="0"/>
          </a:p>
          <a:p>
            <a:pPr indent="0" marL="0">
              <a:spcAft>
                <a:spcPts val="300"/>
              </a:spcAft>
              <a:buNone/>
            </a:pPr>
            <a:r>
              <a:rPr lang="en-US" sz="1350" dirty="0">
                <a:solidFill>
                  <a:srgbClr val="E8EAED"/>
                </a:solidFill>
                <a:latin typeface="Arial" pitchFamily="34" charset="0"/>
                <a:ea typeface="Arial" pitchFamily="34" charset="-122"/>
                <a:cs typeface="Arial" pitchFamily="34" charset="-120"/>
              </a:rPr>
              <a:t>Liao, Adrian Miguel</a:t>
            </a:r>
            <a:endParaRPr lang="en-US" sz="1350" dirty="0"/>
          </a:p>
        </p:txBody>
      </p:sp>
      <p:sp>
        <p:nvSpPr>
          <p:cNvPr id="12" name="Text 10"/>
          <p:cNvSpPr txBox="1"/>
          <p:nvPr/>
        </p:nvSpPr>
        <p:spPr>
          <a:xfrm>
            <a:off x="3977640" y="3931920"/>
            <a:ext cx="3108960" cy="1280160"/>
          </a:xfrm>
          <a:prstGeom prst="rect">
            <a:avLst/>
          </a:prstGeom>
          <a:noFill/>
          <a:ln/>
        </p:spPr>
        <p:txBody>
          <a:bodyPr wrap="square" lIns="0" tIns="0" rIns="0" bIns="0" rtlCol="0" anchor="t"/>
          <a:lstStyle/>
          <a:p>
            <a:pPr indent="0" marL="0">
              <a:spcAft>
                <a:spcPts val="300"/>
              </a:spcAft>
              <a:buNone/>
            </a:pPr>
            <a:r>
              <a:rPr lang="en-US" sz="1350" dirty="0">
                <a:solidFill>
                  <a:srgbClr val="E8EAED"/>
                </a:solidFill>
                <a:latin typeface="Arial" pitchFamily="34" charset="0"/>
                <a:ea typeface="Arial" pitchFamily="34" charset="-122"/>
                <a:cs typeface="Arial" pitchFamily="34" charset="-120"/>
              </a:rPr>
              <a:t>Mago, Karl Mattheus</a:t>
            </a:r>
            <a:endParaRPr lang="en-US" sz="1350" dirty="0"/>
          </a:p>
          <a:p>
            <a:pPr indent="0" marL="0">
              <a:spcAft>
                <a:spcPts val="300"/>
              </a:spcAft>
              <a:buNone/>
            </a:pPr>
            <a:r>
              <a:rPr lang="en-US" sz="1350" dirty="0">
                <a:solidFill>
                  <a:srgbClr val="E8EAED"/>
                </a:solidFill>
                <a:latin typeface="Arial" pitchFamily="34" charset="0"/>
                <a:ea typeface="Arial" pitchFamily="34" charset="-122"/>
                <a:cs typeface="Arial" pitchFamily="34" charset="-120"/>
              </a:rPr>
              <a:t>Medio, Charles</a:t>
            </a:r>
            <a:endParaRPr lang="en-US" sz="1350" dirty="0"/>
          </a:p>
          <a:p>
            <a:pPr indent="0" marL="0">
              <a:spcAft>
                <a:spcPts val="300"/>
              </a:spcAft>
              <a:buNone/>
            </a:pPr>
            <a:r>
              <a:rPr lang="en-US" sz="1350" dirty="0">
                <a:solidFill>
                  <a:srgbClr val="E8EAED"/>
                </a:solidFill>
                <a:latin typeface="Arial" pitchFamily="34" charset="0"/>
                <a:ea typeface="Arial" pitchFamily="34" charset="-122"/>
                <a:cs typeface="Arial" pitchFamily="34" charset="-120"/>
              </a:rPr>
              <a:t>Navarro, Genesis</a:t>
            </a:r>
            <a:endParaRPr lang="en-US" sz="1350" dirty="0"/>
          </a:p>
          <a:p>
            <a:pPr indent="0" marL="0">
              <a:spcAft>
                <a:spcPts val="300"/>
              </a:spcAft>
              <a:buNone/>
            </a:pPr>
            <a:r>
              <a:rPr lang="en-US" sz="1350" dirty="0">
                <a:solidFill>
                  <a:srgbClr val="E8EAED"/>
                </a:solidFill>
                <a:latin typeface="Arial" pitchFamily="34" charset="0"/>
                <a:ea typeface="Arial" pitchFamily="34" charset="-122"/>
                <a:cs typeface="Arial" pitchFamily="34" charset="-120"/>
              </a:rPr>
              <a:t>Orro, Emmanuel Joshua</a:t>
            </a:r>
            <a:endParaRPr lang="en-US" sz="1350" dirty="0"/>
          </a:p>
        </p:txBody>
      </p:sp>
      <p:sp>
        <p:nvSpPr>
          <p:cNvPr id="13" name="Text 11"/>
          <p:cNvSpPr txBox="1"/>
          <p:nvPr/>
        </p:nvSpPr>
        <p:spPr>
          <a:xfrm>
            <a:off x="7223760" y="3931920"/>
            <a:ext cx="3108960" cy="1280160"/>
          </a:xfrm>
          <a:prstGeom prst="rect">
            <a:avLst/>
          </a:prstGeom>
          <a:noFill/>
          <a:ln/>
        </p:spPr>
        <p:txBody>
          <a:bodyPr wrap="square" lIns="0" tIns="0" rIns="0" bIns="0" rtlCol="0" anchor="t"/>
          <a:lstStyle/>
          <a:p>
            <a:pPr indent="0" marL="0">
              <a:spcAft>
                <a:spcPts val="300"/>
              </a:spcAft>
              <a:buNone/>
            </a:pPr>
            <a:r>
              <a:rPr lang="en-US" sz="1350" dirty="0">
                <a:solidFill>
                  <a:srgbClr val="E8EAED"/>
                </a:solidFill>
                <a:latin typeface="Arial" pitchFamily="34" charset="0"/>
                <a:ea typeface="Arial" pitchFamily="34" charset="-122"/>
                <a:cs typeface="Arial" pitchFamily="34" charset="-120"/>
              </a:rPr>
              <a:t>Ruiz, Mark Anthony</a:t>
            </a:r>
            <a:endParaRPr lang="en-US" sz="1350" dirty="0"/>
          </a:p>
          <a:p>
            <a:pPr indent="0" marL="0">
              <a:spcAft>
                <a:spcPts val="300"/>
              </a:spcAft>
              <a:buNone/>
            </a:pPr>
            <a:r>
              <a:rPr lang="en-US" sz="1350" dirty="0">
                <a:solidFill>
                  <a:srgbClr val="E8EAED"/>
                </a:solidFill>
                <a:latin typeface="Arial" pitchFamily="34" charset="0"/>
                <a:ea typeface="Arial" pitchFamily="34" charset="-122"/>
                <a:cs typeface="Arial" pitchFamily="34" charset="-120"/>
              </a:rPr>
              <a:t>Sy, Stephen Ace F.</a:t>
            </a:r>
            <a:endParaRPr lang="en-US" sz="1350" dirty="0"/>
          </a:p>
          <a:p>
            <a:pPr indent="0" marL="0">
              <a:spcAft>
                <a:spcPts val="300"/>
              </a:spcAft>
              <a:buNone/>
            </a:pPr>
            <a:r>
              <a:rPr lang="en-US" sz="1350" dirty="0">
                <a:solidFill>
                  <a:srgbClr val="E8EAED"/>
                </a:solidFill>
                <a:latin typeface="Arial" pitchFamily="34" charset="0"/>
                <a:ea typeface="Arial" pitchFamily="34" charset="-122"/>
                <a:cs typeface="Arial" pitchFamily="34" charset="-120"/>
              </a:rPr>
              <a:t>Talosig, Jay Arre</a:t>
            </a:r>
            <a:endParaRPr lang="en-US" sz="1350" dirty="0"/>
          </a:p>
        </p:txBody>
      </p:sp>
      <p:sp>
        <p:nvSpPr>
          <p:cNvPr id="14" name="Text 12"/>
          <p:cNvSpPr txBox="1"/>
          <p:nvPr/>
        </p:nvSpPr>
        <p:spPr>
          <a:xfrm>
            <a:off x="731520" y="5806440"/>
            <a:ext cx="7315200" cy="320040"/>
          </a:xfrm>
          <a:prstGeom prst="rect">
            <a:avLst/>
          </a:prstGeom>
          <a:noFill/>
          <a:ln/>
        </p:spPr>
        <p:txBody>
          <a:bodyPr wrap="square" lIns="0" tIns="0" rIns="0" bIns="0" rtlCol="0" anchor="t"/>
          <a:lstStyle/>
          <a:p>
            <a:pPr indent="0" marL="0">
              <a:buNone/>
            </a:pPr>
            <a:r>
              <a:rPr lang="en-US" sz="1300" dirty="0">
                <a:solidFill>
                  <a:srgbClr val="9AA0A6"/>
                </a:solidFill>
                <a:latin typeface="Arial" pitchFamily="34" charset="0"/>
                <a:ea typeface="Arial" pitchFamily="34" charset="-122"/>
                <a:cs typeface="Arial" pitchFamily="34" charset="-120"/>
              </a:rPr>
              <a:t>Reinforcement Learning  ·  Final Project  ·  September 28, 2026</a:t>
            </a:r>
            <a:endParaRPr lang="en-US" sz="1300" dirty="0"/>
          </a:p>
        </p:txBody>
      </p:sp>
      <p:sp>
        <p:nvSpPr>
          <p:cNvPr id="15" name="Text 13"/>
          <p:cNvSpPr txBox="1"/>
          <p:nvPr/>
        </p:nvSpPr>
        <p:spPr>
          <a:xfrm>
            <a:off x="7863840" y="5806440"/>
            <a:ext cx="3657600" cy="320040"/>
          </a:xfrm>
          <a:prstGeom prst="rect">
            <a:avLst/>
          </a:prstGeom>
          <a:noFill/>
          <a:ln/>
        </p:spPr>
        <p:txBody>
          <a:bodyPr wrap="square" lIns="0" tIns="0" rIns="0" bIns="0" rtlCol="0" anchor="t"/>
          <a:lstStyle/>
          <a:p>
            <a:pPr algn="r" indent="0" marL="0">
              <a:buNone/>
            </a:pPr>
            <a:r>
              <a:rPr lang="en-US" sz="1300" dirty="0">
                <a:solidFill>
                  <a:srgbClr val="9AA0A6"/>
                </a:solidFill>
                <a:latin typeface="Arial" pitchFamily="34" charset="0"/>
                <a:ea typeface="Arial" pitchFamily="34" charset="-122"/>
                <a:cs typeface="Arial" pitchFamily="34" charset="-120"/>
              </a:rPr>
              <a:t>Instructor: Prof. ____________</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THE PROBLEM</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Why Wordle is a reinforcement learning problem</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2</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sp>
        <p:nvSpPr>
          <p:cNvPr id="9" name="Text 7"/>
          <p:cNvSpPr txBox="1"/>
          <p:nvPr/>
        </p:nvSpPr>
        <p:spPr>
          <a:xfrm>
            <a:off x="548640" y="1645920"/>
            <a:ext cx="566928" cy="566928"/>
          </a:xfrm>
          <a:prstGeom prst="roundRect">
            <a:avLst>
              <a:gd name="adj" fmla="val 9677"/>
            </a:avLst>
          </a:prstGeom>
          <a:solidFill>
            <a:srgbClr val="6AAA64"/>
          </a:solidFill>
          <a:ln>
            <a:solidFill>
              <a:srgbClr val="6AAA64"/>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10" name="Text 8"/>
          <p:cNvSpPr txBox="1"/>
          <p:nvPr/>
        </p:nvSpPr>
        <p:spPr>
          <a:xfrm>
            <a:off x="1325880" y="1600200"/>
            <a:ext cx="5120640" cy="365760"/>
          </a:xfrm>
          <a:prstGeom prst="rect">
            <a:avLst/>
          </a:prstGeom>
          <a:noFill/>
          <a:ln/>
        </p:spPr>
        <p:txBody>
          <a:bodyPr wrap="square" lIns="0" tIns="0" rIns="0" bIns="0" rtlCol="0" anchor="t"/>
          <a:lstStyle/>
          <a:p>
            <a:pPr indent="0" marL="0">
              <a:buNone/>
            </a:pPr>
            <a:r>
              <a:rPr lang="en-US" sz="1900" b="1" dirty="0">
                <a:solidFill>
                  <a:srgbClr val="1A1A1B"/>
                </a:solidFill>
                <a:latin typeface="Arial" pitchFamily="34" charset="0"/>
                <a:ea typeface="Arial" pitchFamily="34" charset="-122"/>
                <a:cs typeface="Arial" pitchFamily="34" charset="-120"/>
              </a:rPr>
              <a:t>Partial observability</a:t>
            </a:r>
            <a:endParaRPr lang="en-US" sz="1900" dirty="0"/>
          </a:p>
        </p:txBody>
      </p:sp>
      <p:sp>
        <p:nvSpPr>
          <p:cNvPr id="11" name="Text 9"/>
          <p:cNvSpPr txBox="1"/>
          <p:nvPr/>
        </p:nvSpPr>
        <p:spPr>
          <a:xfrm>
            <a:off x="1325880" y="2011680"/>
            <a:ext cx="5120640" cy="777240"/>
          </a:xfrm>
          <a:prstGeom prst="rect">
            <a:avLst/>
          </a:prstGeom>
          <a:noFill/>
          <a:ln/>
        </p:spPr>
        <p:txBody>
          <a:bodyPr wrap="square" lIns="0" tIns="0" rIns="0" bIns="0" rtlCol="0" anchor="t"/>
          <a:lstStyle/>
          <a:p>
            <a:pPr indent="0" marL="0">
              <a:buNone/>
            </a:pPr>
            <a:r>
              <a:rPr lang="en-US" sz="1500" dirty="0">
                <a:solidFill>
                  <a:srgbClr val="5F6368"/>
                </a:solidFill>
                <a:latin typeface="Arial" pitchFamily="34" charset="0"/>
                <a:ea typeface="Arial" pitchFamily="34" charset="-122"/>
                <a:cs typeface="Arial" pitchFamily="34" charset="-120"/>
              </a:rPr>
              <a:t>The secret word is hidden. The agent only sees colored feedback from its own guesses.</a:t>
            </a:r>
            <a:endParaRPr lang="en-US" sz="1500" dirty="0"/>
          </a:p>
        </p:txBody>
      </p:sp>
      <p:sp>
        <p:nvSpPr>
          <p:cNvPr id="12" name="Text 10"/>
          <p:cNvSpPr txBox="1"/>
          <p:nvPr/>
        </p:nvSpPr>
        <p:spPr>
          <a:xfrm>
            <a:off x="548640" y="3063240"/>
            <a:ext cx="566928" cy="566928"/>
          </a:xfrm>
          <a:prstGeom prst="roundRect">
            <a:avLst>
              <a:gd name="adj" fmla="val 9677"/>
            </a:avLst>
          </a:prstGeom>
          <a:solidFill>
            <a:srgbClr val="C9B458"/>
          </a:solidFill>
          <a:ln>
            <a:solidFill>
              <a:srgbClr val="C9B458"/>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Text 11"/>
          <p:cNvSpPr txBox="1"/>
          <p:nvPr/>
        </p:nvSpPr>
        <p:spPr>
          <a:xfrm>
            <a:off x="1325880" y="3017520"/>
            <a:ext cx="5120640" cy="365760"/>
          </a:xfrm>
          <a:prstGeom prst="rect">
            <a:avLst/>
          </a:prstGeom>
          <a:noFill/>
          <a:ln/>
        </p:spPr>
        <p:txBody>
          <a:bodyPr wrap="square" lIns="0" tIns="0" rIns="0" bIns="0" rtlCol="0" anchor="t"/>
          <a:lstStyle/>
          <a:p>
            <a:pPr indent="0" marL="0">
              <a:buNone/>
            </a:pPr>
            <a:r>
              <a:rPr lang="en-US" sz="1900" b="1" dirty="0">
                <a:solidFill>
                  <a:srgbClr val="1A1A1B"/>
                </a:solidFill>
                <a:latin typeface="Arial" pitchFamily="34" charset="0"/>
                <a:ea typeface="Arial" pitchFamily="34" charset="-122"/>
                <a:cs typeface="Arial" pitchFamily="34" charset="-120"/>
              </a:rPr>
              <a:t>Huge action space</a:t>
            </a:r>
            <a:endParaRPr lang="en-US" sz="1900" dirty="0"/>
          </a:p>
        </p:txBody>
      </p:sp>
      <p:sp>
        <p:nvSpPr>
          <p:cNvPr id="14" name="Text 12"/>
          <p:cNvSpPr txBox="1"/>
          <p:nvPr/>
        </p:nvSpPr>
        <p:spPr>
          <a:xfrm>
            <a:off x="1325880" y="3429000"/>
            <a:ext cx="5120640" cy="777240"/>
          </a:xfrm>
          <a:prstGeom prst="rect">
            <a:avLst/>
          </a:prstGeom>
          <a:noFill/>
          <a:ln/>
        </p:spPr>
        <p:txBody>
          <a:bodyPr wrap="square" lIns="0" tIns="0" rIns="0" bIns="0" rtlCol="0" anchor="t"/>
          <a:lstStyle/>
          <a:p>
            <a:pPr indent="0" marL="0">
              <a:buNone/>
            </a:pPr>
            <a:r>
              <a:rPr lang="en-US" sz="1500" dirty="0">
                <a:solidFill>
                  <a:srgbClr val="5F6368"/>
                </a:solidFill>
                <a:latin typeface="Arial" pitchFamily="34" charset="0"/>
                <a:ea typeface="Arial" pitchFamily="34" charset="-122"/>
                <a:cs typeface="Arial" pitchFamily="34" charset="-120"/>
              </a:rPr>
              <a:t>Up to 8,636 possible words to choose from at every single turn.</a:t>
            </a:r>
            <a:endParaRPr lang="en-US" sz="1500" dirty="0"/>
          </a:p>
        </p:txBody>
      </p:sp>
      <p:sp>
        <p:nvSpPr>
          <p:cNvPr id="15" name="Text 13"/>
          <p:cNvSpPr txBox="1"/>
          <p:nvPr/>
        </p:nvSpPr>
        <p:spPr>
          <a:xfrm>
            <a:off x="548640" y="4480560"/>
            <a:ext cx="566928" cy="566928"/>
          </a:xfrm>
          <a:prstGeom prst="roundRect">
            <a:avLst>
              <a:gd name="adj" fmla="val 9677"/>
            </a:avLst>
          </a:prstGeom>
          <a:solidFill>
            <a:srgbClr val="787C7E"/>
          </a:solidFill>
          <a:ln>
            <a:solidFill>
              <a:srgbClr val="787C7E"/>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6" name="Text 14"/>
          <p:cNvSpPr txBox="1"/>
          <p:nvPr/>
        </p:nvSpPr>
        <p:spPr>
          <a:xfrm>
            <a:off x="1325880" y="4434840"/>
            <a:ext cx="5120640" cy="365760"/>
          </a:xfrm>
          <a:prstGeom prst="rect">
            <a:avLst/>
          </a:prstGeom>
          <a:noFill/>
          <a:ln/>
        </p:spPr>
        <p:txBody>
          <a:bodyPr wrap="square" lIns="0" tIns="0" rIns="0" bIns="0" rtlCol="0" anchor="t"/>
          <a:lstStyle/>
          <a:p>
            <a:pPr indent="0" marL="0">
              <a:buNone/>
            </a:pPr>
            <a:r>
              <a:rPr lang="en-US" sz="1900" b="1" dirty="0">
                <a:solidFill>
                  <a:srgbClr val="1A1A1B"/>
                </a:solidFill>
                <a:latin typeface="Arial" pitchFamily="34" charset="0"/>
                <a:ea typeface="Arial" pitchFamily="34" charset="-122"/>
                <a:cs typeface="Arial" pitchFamily="34" charset="-120"/>
              </a:rPr>
              <a:t>Sequential decisions</a:t>
            </a:r>
            <a:endParaRPr lang="en-US" sz="1900" dirty="0"/>
          </a:p>
        </p:txBody>
      </p:sp>
      <p:sp>
        <p:nvSpPr>
          <p:cNvPr id="17" name="Text 15"/>
          <p:cNvSpPr txBox="1"/>
          <p:nvPr/>
        </p:nvSpPr>
        <p:spPr>
          <a:xfrm>
            <a:off x="1325880" y="4846320"/>
            <a:ext cx="5120640" cy="777240"/>
          </a:xfrm>
          <a:prstGeom prst="rect">
            <a:avLst/>
          </a:prstGeom>
          <a:noFill/>
          <a:ln/>
        </p:spPr>
        <p:txBody>
          <a:bodyPr wrap="square" lIns="0" tIns="0" rIns="0" bIns="0" rtlCol="0" anchor="t"/>
          <a:lstStyle/>
          <a:p>
            <a:pPr indent="0" marL="0">
              <a:buNone/>
            </a:pPr>
            <a:r>
              <a:rPr lang="en-US" sz="1500" dirty="0">
                <a:solidFill>
                  <a:srgbClr val="5F6368"/>
                </a:solidFill>
                <a:latin typeface="Arial" pitchFamily="34" charset="0"/>
                <a:ea typeface="Arial" pitchFamily="34" charset="-122"/>
                <a:cs typeface="Arial" pitchFamily="34" charset="-120"/>
              </a:rPr>
              <a:t>A good guess is one that narrows the options for later turns, not only one that might win now.</a:t>
            </a:r>
            <a:endParaRPr lang="en-US" sz="1500" dirty="0"/>
          </a:p>
        </p:txBody>
      </p:sp>
      <p:sp>
        <p:nvSpPr>
          <p:cNvPr id="18" name="Shape 16"/>
          <p:cNvSpPr/>
          <p:nvPr/>
        </p:nvSpPr>
        <p:spPr>
          <a:xfrm>
            <a:off x="7040880" y="1463040"/>
            <a:ext cx="4572000" cy="4572000"/>
          </a:xfrm>
          <a:prstGeom prst="roundRect">
            <a:avLst>
              <a:gd name="adj" fmla="val 1600"/>
            </a:avLst>
          </a:prstGeom>
          <a:solidFill>
            <a:srgbClr val="F3F4F5"/>
          </a:solidFill>
          <a:ln w="12700">
            <a:solidFill>
              <a:srgbClr val="F3F4F5"/>
            </a:solidFill>
            <a:prstDash val="solid"/>
          </a:ln>
        </p:spPr>
      </p:sp>
      <p:sp>
        <p:nvSpPr>
          <p:cNvPr id="19" name="Text 17"/>
          <p:cNvSpPr txBox="1"/>
          <p:nvPr/>
        </p:nvSpPr>
        <p:spPr>
          <a:xfrm>
            <a:off x="7269480" y="1627632"/>
            <a:ext cx="4114800" cy="320040"/>
          </a:xfrm>
          <a:prstGeom prst="rect">
            <a:avLst/>
          </a:prstGeom>
          <a:noFill/>
          <a:ln/>
        </p:spPr>
        <p:txBody>
          <a:bodyPr wrap="square" lIns="0" tIns="0" rIns="0" bIns="0" rtlCol="0" anchor="t"/>
          <a:lstStyle/>
          <a:p>
            <a:pPr indent="0" marL="0">
              <a:buNone/>
            </a:pPr>
            <a:r>
              <a:rPr lang="en-US" sz="1300" b="1" dirty="0">
                <a:solidFill>
                  <a:srgbClr val="5F6368"/>
                </a:solidFill>
                <a:latin typeface="Arial" pitchFamily="34" charset="0"/>
                <a:ea typeface="Arial" pitchFamily="34" charset="-122"/>
                <a:cs typeface="Arial" pitchFamily="34" charset="-120"/>
              </a:rPr>
              <a:t>Example: secret word is CRANE</a:t>
            </a:r>
            <a:endParaRPr lang="en-US" sz="1300" dirty="0"/>
          </a:p>
        </p:txBody>
      </p:sp>
      <p:sp>
        <p:nvSpPr>
          <p:cNvPr id="20" name="Text 18"/>
          <p:cNvSpPr txBox="1"/>
          <p:nvPr/>
        </p:nvSpPr>
        <p:spPr>
          <a:xfrm>
            <a:off x="7772400" y="2103120"/>
            <a:ext cx="566928" cy="566928"/>
          </a:xfrm>
          <a:prstGeom prst="roundRect">
            <a:avLst>
              <a:gd name="adj" fmla="val 9677"/>
            </a:avLst>
          </a:prstGeom>
          <a:solidFill>
            <a:srgbClr val="787C7E"/>
          </a:solidFill>
          <a:ln>
            <a:solidFill>
              <a:srgbClr val="787C7E"/>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T</a:t>
            </a:r>
            <a:endParaRPr lang="en-US" sz="2200" dirty="0"/>
          </a:p>
        </p:txBody>
      </p:sp>
      <p:sp>
        <p:nvSpPr>
          <p:cNvPr id="21" name="Text 19"/>
          <p:cNvSpPr txBox="1"/>
          <p:nvPr/>
        </p:nvSpPr>
        <p:spPr>
          <a:xfrm>
            <a:off x="8412480" y="2103120"/>
            <a:ext cx="566928" cy="566928"/>
          </a:xfrm>
          <a:prstGeom prst="roundRect">
            <a:avLst>
              <a:gd name="adj" fmla="val 9677"/>
            </a:avLst>
          </a:prstGeom>
          <a:solidFill>
            <a:srgbClr val="C9B458"/>
          </a:solidFill>
          <a:ln>
            <a:solidFill>
              <a:srgbClr val="C9B458"/>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a:t>
            </a:r>
            <a:endParaRPr lang="en-US" sz="2200" dirty="0"/>
          </a:p>
        </p:txBody>
      </p:sp>
      <p:sp>
        <p:nvSpPr>
          <p:cNvPr id="22" name="Text 20"/>
          <p:cNvSpPr txBox="1"/>
          <p:nvPr/>
        </p:nvSpPr>
        <p:spPr>
          <a:xfrm>
            <a:off x="9052560" y="2103120"/>
            <a:ext cx="566928" cy="566928"/>
          </a:xfrm>
          <a:prstGeom prst="roundRect">
            <a:avLst>
              <a:gd name="adj" fmla="val 9677"/>
            </a:avLst>
          </a:prstGeom>
          <a:solidFill>
            <a:srgbClr val="C9B458"/>
          </a:solidFill>
          <a:ln>
            <a:solidFill>
              <a:srgbClr val="C9B458"/>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R</a:t>
            </a:r>
            <a:endParaRPr lang="en-US" sz="2200" dirty="0"/>
          </a:p>
        </p:txBody>
      </p:sp>
      <p:sp>
        <p:nvSpPr>
          <p:cNvPr id="23" name="Text 21"/>
          <p:cNvSpPr txBox="1"/>
          <p:nvPr/>
        </p:nvSpPr>
        <p:spPr>
          <a:xfrm>
            <a:off x="9692640" y="2103120"/>
            <a:ext cx="566928" cy="566928"/>
          </a:xfrm>
          <a:prstGeom prst="roundRect">
            <a:avLst>
              <a:gd name="adj" fmla="val 9677"/>
            </a:avLst>
          </a:prstGeom>
          <a:solidFill>
            <a:srgbClr val="C9B458"/>
          </a:solidFill>
          <a:ln>
            <a:solidFill>
              <a:srgbClr val="C9B458"/>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E</a:t>
            </a:r>
            <a:endParaRPr lang="en-US" sz="2200" dirty="0"/>
          </a:p>
        </p:txBody>
      </p:sp>
      <p:sp>
        <p:nvSpPr>
          <p:cNvPr id="24" name="Text 22"/>
          <p:cNvSpPr txBox="1"/>
          <p:nvPr/>
        </p:nvSpPr>
        <p:spPr>
          <a:xfrm>
            <a:off x="10332720" y="2103120"/>
            <a:ext cx="566928" cy="566928"/>
          </a:xfrm>
          <a:prstGeom prst="roundRect">
            <a:avLst>
              <a:gd name="adj" fmla="val 9677"/>
            </a:avLst>
          </a:prstGeom>
          <a:solidFill>
            <a:srgbClr val="787C7E"/>
          </a:solidFill>
          <a:ln>
            <a:solidFill>
              <a:srgbClr val="787C7E"/>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S</a:t>
            </a:r>
            <a:endParaRPr lang="en-US" sz="2200" dirty="0"/>
          </a:p>
        </p:txBody>
      </p:sp>
      <p:sp>
        <p:nvSpPr>
          <p:cNvPr id="25" name="Text 23"/>
          <p:cNvSpPr txBox="1"/>
          <p:nvPr/>
        </p:nvSpPr>
        <p:spPr>
          <a:xfrm>
            <a:off x="7772400" y="2834640"/>
            <a:ext cx="566928" cy="566928"/>
          </a:xfrm>
          <a:prstGeom prst="roundRect">
            <a:avLst>
              <a:gd name="adj" fmla="val 9677"/>
            </a:avLst>
          </a:prstGeom>
          <a:solidFill>
            <a:srgbClr val="6AAA64"/>
          </a:solidFill>
          <a:ln>
            <a:solidFill>
              <a:srgbClr val="6AAA64"/>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C</a:t>
            </a:r>
            <a:endParaRPr lang="en-US" sz="2200" dirty="0"/>
          </a:p>
        </p:txBody>
      </p:sp>
      <p:sp>
        <p:nvSpPr>
          <p:cNvPr id="26" name="Text 24"/>
          <p:cNvSpPr txBox="1"/>
          <p:nvPr/>
        </p:nvSpPr>
        <p:spPr>
          <a:xfrm>
            <a:off x="8412480" y="2834640"/>
            <a:ext cx="566928" cy="566928"/>
          </a:xfrm>
          <a:prstGeom prst="roundRect">
            <a:avLst>
              <a:gd name="adj" fmla="val 9677"/>
            </a:avLst>
          </a:prstGeom>
          <a:solidFill>
            <a:srgbClr val="6AAA64"/>
          </a:solidFill>
          <a:ln>
            <a:solidFill>
              <a:srgbClr val="6AAA64"/>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R</a:t>
            </a:r>
            <a:endParaRPr lang="en-US" sz="2200" dirty="0"/>
          </a:p>
        </p:txBody>
      </p:sp>
      <p:sp>
        <p:nvSpPr>
          <p:cNvPr id="27" name="Text 25"/>
          <p:cNvSpPr txBox="1"/>
          <p:nvPr/>
        </p:nvSpPr>
        <p:spPr>
          <a:xfrm>
            <a:off x="9052560" y="2834640"/>
            <a:ext cx="566928" cy="566928"/>
          </a:xfrm>
          <a:prstGeom prst="roundRect">
            <a:avLst>
              <a:gd name="adj" fmla="val 9677"/>
            </a:avLst>
          </a:prstGeom>
          <a:solidFill>
            <a:srgbClr val="6AAA64"/>
          </a:solidFill>
          <a:ln>
            <a:solidFill>
              <a:srgbClr val="6AAA64"/>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a:t>
            </a:r>
            <a:endParaRPr lang="en-US" sz="2200" dirty="0"/>
          </a:p>
        </p:txBody>
      </p:sp>
      <p:sp>
        <p:nvSpPr>
          <p:cNvPr id="28" name="Text 26"/>
          <p:cNvSpPr txBox="1"/>
          <p:nvPr/>
        </p:nvSpPr>
        <p:spPr>
          <a:xfrm>
            <a:off x="9692640" y="2834640"/>
            <a:ext cx="566928" cy="566928"/>
          </a:xfrm>
          <a:prstGeom prst="roundRect">
            <a:avLst>
              <a:gd name="adj" fmla="val 9677"/>
            </a:avLst>
          </a:prstGeom>
          <a:solidFill>
            <a:srgbClr val="6AAA64"/>
          </a:solidFill>
          <a:ln>
            <a:solidFill>
              <a:srgbClr val="6AAA64"/>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N</a:t>
            </a:r>
            <a:endParaRPr lang="en-US" sz="2200" dirty="0"/>
          </a:p>
        </p:txBody>
      </p:sp>
      <p:sp>
        <p:nvSpPr>
          <p:cNvPr id="29" name="Text 27"/>
          <p:cNvSpPr txBox="1"/>
          <p:nvPr/>
        </p:nvSpPr>
        <p:spPr>
          <a:xfrm>
            <a:off x="10332720" y="2834640"/>
            <a:ext cx="566928" cy="566928"/>
          </a:xfrm>
          <a:prstGeom prst="roundRect">
            <a:avLst>
              <a:gd name="adj" fmla="val 9677"/>
            </a:avLst>
          </a:prstGeom>
          <a:solidFill>
            <a:srgbClr val="6AAA64"/>
          </a:solidFill>
          <a:ln>
            <a:solidFill>
              <a:srgbClr val="6AAA64"/>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E</a:t>
            </a:r>
            <a:endParaRPr lang="en-US" sz="2200" dirty="0"/>
          </a:p>
        </p:txBody>
      </p:sp>
      <p:sp>
        <p:nvSpPr>
          <p:cNvPr id="30" name="Shape 28"/>
          <p:cNvSpPr/>
          <p:nvPr/>
        </p:nvSpPr>
        <p:spPr>
          <a:xfrm>
            <a:off x="7772400" y="3566160"/>
            <a:ext cx="566928" cy="566928"/>
          </a:xfrm>
          <a:prstGeom prst="roundRect">
            <a:avLst>
              <a:gd name="adj" fmla="val 9677"/>
            </a:avLst>
          </a:prstGeom>
          <a:solidFill>
            <a:srgbClr val="FFFFFF"/>
          </a:solidFill>
          <a:ln w="19050">
            <a:solidFill>
              <a:srgbClr val="D3D6DA"/>
            </a:solidFill>
            <a:prstDash val="solid"/>
          </a:ln>
        </p:spPr>
      </p:sp>
      <p:sp>
        <p:nvSpPr>
          <p:cNvPr id="31" name="Shape 29"/>
          <p:cNvSpPr/>
          <p:nvPr/>
        </p:nvSpPr>
        <p:spPr>
          <a:xfrm>
            <a:off x="8412480" y="3566160"/>
            <a:ext cx="566928" cy="566928"/>
          </a:xfrm>
          <a:prstGeom prst="roundRect">
            <a:avLst>
              <a:gd name="adj" fmla="val 9677"/>
            </a:avLst>
          </a:prstGeom>
          <a:solidFill>
            <a:srgbClr val="FFFFFF"/>
          </a:solidFill>
          <a:ln w="19050">
            <a:solidFill>
              <a:srgbClr val="D3D6DA"/>
            </a:solidFill>
            <a:prstDash val="solid"/>
          </a:ln>
        </p:spPr>
      </p:sp>
      <p:sp>
        <p:nvSpPr>
          <p:cNvPr id="32" name="Shape 30"/>
          <p:cNvSpPr/>
          <p:nvPr/>
        </p:nvSpPr>
        <p:spPr>
          <a:xfrm>
            <a:off x="9052560" y="3566160"/>
            <a:ext cx="566928" cy="566928"/>
          </a:xfrm>
          <a:prstGeom prst="roundRect">
            <a:avLst>
              <a:gd name="adj" fmla="val 9677"/>
            </a:avLst>
          </a:prstGeom>
          <a:solidFill>
            <a:srgbClr val="FFFFFF"/>
          </a:solidFill>
          <a:ln w="19050">
            <a:solidFill>
              <a:srgbClr val="D3D6DA"/>
            </a:solidFill>
            <a:prstDash val="solid"/>
          </a:ln>
        </p:spPr>
      </p:sp>
      <p:sp>
        <p:nvSpPr>
          <p:cNvPr id="33" name="Shape 31"/>
          <p:cNvSpPr/>
          <p:nvPr/>
        </p:nvSpPr>
        <p:spPr>
          <a:xfrm>
            <a:off x="9692640" y="3566160"/>
            <a:ext cx="566928" cy="566928"/>
          </a:xfrm>
          <a:prstGeom prst="roundRect">
            <a:avLst>
              <a:gd name="adj" fmla="val 9677"/>
            </a:avLst>
          </a:prstGeom>
          <a:solidFill>
            <a:srgbClr val="FFFFFF"/>
          </a:solidFill>
          <a:ln w="19050">
            <a:solidFill>
              <a:srgbClr val="D3D6DA"/>
            </a:solidFill>
            <a:prstDash val="solid"/>
          </a:ln>
        </p:spPr>
      </p:sp>
      <p:sp>
        <p:nvSpPr>
          <p:cNvPr id="34" name="Shape 32"/>
          <p:cNvSpPr/>
          <p:nvPr/>
        </p:nvSpPr>
        <p:spPr>
          <a:xfrm>
            <a:off x="10332720" y="3566160"/>
            <a:ext cx="566928" cy="566928"/>
          </a:xfrm>
          <a:prstGeom prst="roundRect">
            <a:avLst>
              <a:gd name="adj" fmla="val 9677"/>
            </a:avLst>
          </a:prstGeom>
          <a:solidFill>
            <a:srgbClr val="FFFFFF"/>
          </a:solidFill>
          <a:ln w="19050">
            <a:solidFill>
              <a:srgbClr val="D3D6DA"/>
            </a:solidFill>
            <a:prstDash val="solid"/>
          </a:ln>
        </p:spPr>
      </p:sp>
      <p:sp>
        <p:nvSpPr>
          <p:cNvPr id="35" name="Shape 33"/>
          <p:cNvSpPr/>
          <p:nvPr/>
        </p:nvSpPr>
        <p:spPr>
          <a:xfrm>
            <a:off x="7772400" y="4297680"/>
            <a:ext cx="566928" cy="566928"/>
          </a:xfrm>
          <a:prstGeom prst="roundRect">
            <a:avLst>
              <a:gd name="adj" fmla="val 9677"/>
            </a:avLst>
          </a:prstGeom>
          <a:solidFill>
            <a:srgbClr val="FFFFFF"/>
          </a:solidFill>
          <a:ln w="19050">
            <a:solidFill>
              <a:srgbClr val="D3D6DA"/>
            </a:solidFill>
            <a:prstDash val="solid"/>
          </a:ln>
        </p:spPr>
      </p:sp>
      <p:sp>
        <p:nvSpPr>
          <p:cNvPr id="36" name="Shape 34"/>
          <p:cNvSpPr/>
          <p:nvPr/>
        </p:nvSpPr>
        <p:spPr>
          <a:xfrm>
            <a:off x="8412480" y="4297680"/>
            <a:ext cx="566928" cy="566928"/>
          </a:xfrm>
          <a:prstGeom prst="roundRect">
            <a:avLst>
              <a:gd name="adj" fmla="val 9677"/>
            </a:avLst>
          </a:prstGeom>
          <a:solidFill>
            <a:srgbClr val="FFFFFF"/>
          </a:solidFill>
          <a:ln w="19050">
            <a:solidFill>
              <a:srgbClr val="D3D6DA"/>
            </a:solidFill>
            <a:prstDash val="solid"/>
          </a:ln>
        </p:spPr>
      </p:sp>
      <p:sp>
        <p:nvSpPr>
          <p:cNvPr id="37" name="Shape 35"/>
          <p:cNvSpPr/>
          <p:nvPr/>
        </p:nvSpPr>
        <p:spPr>
          <a:xfrm>
            <a:off x="9052560" y="4297680"/>
            <a:ext cx="566928" cy="566928"/>
          </a:xfrm>
          <a:prstGeom prst="roundRect">
            <a:avLst>
              <a:gd name="adj" fmla="val 9677"/>
            </a:avLst>
          </a:prstGeom>
          <a:solidFill>
            <a:srgbClr val="FFFFFF"/>
          </a:solidFill>
          <a:ln w="19050">
            <a:solidFill>
              <a:srgbClr val="D3D6DA"/>
            </a:solidFill>
            <a:prstDash val="solid"/>
          </a:ln>
        </p:spPr>
      </p:sp>
      <p:sp>
        <p:nvSpPr>
          <p:cNvPr id="38" name="Shape 36"/>
          <p:cNvSpPr/>
          <p:nvPr/>
        </p:nvSpPr>
        <p:spPr>
          <a:xfrm>
            <a:off x="9692640" y="4297680"/>
            <a:ext cx="566928" cy="566928"/>
          </a:xfrm>
          <a:prstGeom prst="roundRect">
            <a:avLst>
              <a:gd name="adj" fmla="val 9677"/>
            </a:avLst>
          </a:prstGeom>
          <a:solidFill>
            <a:srgbClr val="FFFFFF"/>
          </a:solidFill>
          <a:ln w="19050">
            <a:solidFill>
              <a:srgbClr val="D3D6DA"/>
            </a:solidFill>
            <a:prstDash val="solid"/>
          </a:ln>
        </p:spPr>
      </p:sp>
      <p:sp>
        <p:nvSpPr>
          <p:cNvPr id="39" name="Shape 37"/>
          <p:cNvSpPr/>
          <p:nvPr/>
        </p:nvSpPr>
        <p:spPr>
          <a:xfrm>
            <a:off x="10332720" y="4297680"/>
            <a:ext cx="566928" cy="566928"/>
          </a:xfrm>
          <a:prstGeom prst="roundRect">
            <a:avLst>
              <a:gd name="adj" fmla="val 9677"/>
            </a:avLst>
          </a:prstGeom>
          <a:solidFill>
            <a:srgbClr val="FFFFFF"/>
          </a:solidFill>
          <a:ln w="19050">
            <a:solidFill>
              <a:srgbClr val="D3D6DA"/>
            </a:solidFill>
            <a:prstDash val="solid"/>
          </a:ln>
        </p:spPr>
      </p:sp>
      <p:sp>
        <p:nvSpPr>
          <p:cNvPr id="40" name="Shape 38"/>
          <p:cNvSpPr/>
          <p:nvPr/>
        </p:nvSpPr>
        <p:spPr>
          <a:xfrm>
            <a:off x="7772400" y="5029200"/>
            <a:ext cx="566928" cy="566928"/>
          </a:xfrm>
          <a:prstGeom prst="roundRect">
            <a:avLst>
              <a:gd name="adj" fmla="val 9677"/>
            </a:avLst>
          </a:prstGeom>
          <a:solidFill>
            <a:srgbClr val="FFFFFF"/>
          </a:solidFill>
          <a:ln w="19050">
            <a:solidFill>
              <a:srgbClr val="D3D6DA"/>
            </a:solidFill>
            <a:prstDash val="solid"/>
          </a:ln>
        </p:spPr>
      </p:sp>
      <p:sp>
        <p:nvSpPr>
          <p:cNvPr id="41" name="Shape 39"/>
          <p:cNvSpPr/>
          <p:nvPr/>
        </p:nvSpPr>
        <p:spPr>
          <a:xfrm>
            <a:off x="8412480" y="5029200"/>
            <a:ext cx="566928" cy="566928"/>
          </a:xfrm>
          <a:prstGeom prst="roundRect">
            <a:avLst>
              <a:gd name="adj" fmla="val 9677"/>
            </a:avLst>
          </a:prstGeom>
          <a:solidFill>
            <a:srgbClr val="FFFFFF"/>
          </a:solidFill>
          <a:ln w="19050">
            <a:solidFill>
              <a:srgbClr val="D3D6DA"/>
            </a:solidFill>
            <a:prstDash val="solid"/>
          </a:ln>
        </p:spPr>
      </p:sp>
      <p:sp>
        <p:nvSpPr>
          <p:cNvPr id="42" name="Shape 40"/>
          <p:cNvSpPr/>
          <p:nvPr/>
        </p:nvSpPr>
        <p:spPr>
          <a:xfrm>
            <a:off x="9052560" y="5029200"/>
            <a:ext cx="566928" cy="566928"/>
          </a:xfrm>
          <a:prstGeom prst="roundRect">
            <a:avLst>
              <a:gd name="adj" fmla="val 9677"/>
            </a:avLst>
          </a:prstGeom>
          <a:solidFill>
            <a:srgbClr val="FFFFFF"/>
          </a:solidFill>
          <a:ln w="19050">
            <a:solidFill>
              <a:srgbClr val="D3D6DA"/>
            </a:solidFill>
            <a:prstDash val="solid"/>
          </a:ln>
        </p:spPr>
      </p:sp>
      <p:sp>
        <p:nvSpPr>
          <p:cNvPr id="43" name="Shape 41"/>
          <p:cNvSpPr/>
          <p:nvPr/>
        </p:nvSpPr>
        <p:spPr>
          <a:xfrm>
            <a:off x="9692640" y="5029200"/>
            <a:ext cx="566928" cy="566928"/>
          </a:xfrm>
          <a:prstGeom prst="roundRect">
            <a:avLst>
              <a:gd name="adj" fmla="val 9677"/>
            </a:avLst>
          </a:prstGeom>
          <a:solidFill>
            <a:srgbClr val="FFFFFF"/>
          </a:solidFill>
          <a:ln w="19050">
            <a:solidFill>
              <a:srgbClr val="D3D6DA"/>
            </a:solidFill>
            <a:prstDash val="solid"/>
          </a:ln>
        </p:spPr>
      </p:sp>
      <p:sp>
        <p:nvSpPr>
          <p:cNvPr id="44" name="Shape 42"/>
          <p:cNvSpPr/>
          <p:nvPr/>
        </p:nvSpPr>
        <p:spPr>
          <a:xfrm>
            <a:off x="10332720" y="5029200"/>
            <a:ext cx="566928" cy="566928"/>
          </a:xfrm>
          <a:prstGeom prst="roundRect">
            <a:avLst>
              <a:gd name="adj" fmla="val 9677"/>
            </a:avLst>
          </a:prstGeom>
          <a:solidFill>
            <a:srgbClr val="FFFFFF"/>
          </a:solidFill>
          <a:ln w="19050">
            <a:solidFill>
              <a:srgbClr val="D3D6DA"/>
            </a:solidFill>
            <a:prstDash val="solid"/>
          </a:ln>
        </p:spPr>
      </p:sp>
      <p:sp>
        <p:nvSpPr>
          <p:cNvPr id="45" name="Text 43"/>
          <p:cNvSpPr txBox="1"/>
          <p:nvPr/>
        </p:nvSpPr>
        <p:spPr>
          <a:xfrm>
            <a:off x="7269480" y="5715000"/>
            <a:ext cx="4206240" cy="274320"/>
          </a:xfrm>
          <a:prstGeom prst="rect">
            <a:avLst/>
          </a:prstGeom>
          <a:noFill/>
          <a:ln/>
        </p:spPr>
        <p:txBody>
          <a:bodyPr wrap="square" lIns="0" tIns="0" rIns="0" bIns="0" rtlCol="0" anchor="t"/>
          <a:lstStyle/>
          <a:p>
            <a:pPr algn="ctr" indent="0" marL="0">
              <a:buNone/>
            </a:pPr>
            <a:r>
              <a:rPr lang="en-US" sz="1100" dirty="0">
                <a:solidFill>
                  <a:srgbClr val="5F6368"/>
                </a:solidFill>
                <a:latin typeface="Arial" pitchFamily="34" charset="0"/>
                <a:ea typeface="Arial" pitchFamily="34" charset="-122"/>
                <a:cs typeface="Arial" pitchFamily="34" charset="-120"/>
              </a:rPr>
              <a:t>Green = right spot   Yellow = wrong spot   Gray = absent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OBJECTIVES</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What we set out to do</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3</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sp>
        <p:nvSpPr>
          <p:cNvPr id="9" name="Shape 7"/>
          <p:cNvSpPr/>
          <p:nvPr/>
        </p:nvSpPr>
        <p:spPr>
          <a:xfrm>
            <a:off x="548640" y="1463040"/>
            <a:ext cx="11091672" cy="1051560"/>
          </a:xfrm>
          <a:prstGeom prst="roundRect">
            <a:avLst>
              <a:gd name="adj" fmla="val 6957"/>
            </a:avLst>
          </a:prstGeom>
          <a:solidFill>
            <a:srgbClr val="EAF3E9"/>
          </a:solidFill>
          <a:ln w="12700">
            <a:solidFill>
              <a:srgbClr val="EAF3E9"/>
            </a:solidFill>
            <a:prstDash val="solid"/>
          </a:ln>
        </p:spPr>
      </p:sp>
      <p:sp>
        <p:nvSpPr>
          <p:cNvPr id="10" name="Text 8"/>
          <p:cNvSpPr txBox="1"/>
          <p:nvPr/>
        </p:nvSpPr>
        <p:spPr>
          <a:xfrm>
            <a:off x="822960" y="1600200"/>
            <a:ext cx="4572000" cy="274320"/>
          </a:xfrm>
          <a:prstGeom prst="rect">
            <a:avLst/>
          </a:prstGeom>
          <a:noFill/>
          <a:ln/>
        </p:spPr>
        <p:txBody>
          <a:bodyPr wrap="square" lIns="0" tIns="0" rIns="0" bIns="0" rtlCol="0" anchor="t"/>
          <a:lstStyle/>
          <a:p>
            <a:pPr indent="0" marL="0">
              <a:buNone/>
            </a:pPr>
            <a:r>
              <a:rPr lang="en-US" sz="1100" b="1" spc="200" kern="0" dirty="0">
                <a:solidFill>
                  <a:srgbClr val="6AAA64"/>
                </a:solidFill>
                <a:latin typeface="Arial" pitchFamily="34" charset="0"/>
                <a:ea typeface="Arial" pitchFamily="34" charset="-122"/>
                <a:cs typeface="Arial" pitchFamily="34" charset="-120"/>
              </a:rPr>
              <a:t>GENERAL OBJECTIVE</a:t>
            </a:r>
            <a:endParaRPr lang="en-US" sz="1100" dirty="0"/>
          </a:p>
        </p:txBody>
      </p:sp>
      <p:sp>
        <p:nvSpPr>
          <p:cNvPr id="11" name="Text 9"/>
          <p:cNvSpPr txBox="1"/>
          <p:nvPr/>
        </p:nvSpPr>
        <p:spPr>
          <a:xfrm>
            <a:off x="822960" y="1892808"/>
            <a:ext cx="10607040" cy="548640"/>
          </a:xfrm>
          <a:prstGeom prst="rect">
            <a:avLst/>
          </a:prstGeom>
          <a:noFill/>
          <a:ln/>
        </p:spPr>
        <p:txBody>
          <a:bodyPr wrap="square" lIns="0" tIns="0" rIns="0" bIns="0" rtlCol="0" anchor="t"/>
          <a:lstStyle/>
          <a:p>
            <a:pPr indent="0" marL="0">
              <a:buNone/>
            </a:pPr>
            <a:r>
              <a:rPr lang="en-US" sz="1600" dirty="0">
                <a:solidFill>
                  <a:srgbClr val="1A1A1B"/>
                </a:solidFill>
                <a:latin typeface="Arial" pitchFamily="34" charset="0"/>
                <a:ea typeface="Arial" pitchFamily="34" charset="-122"/>
                <a:cs typeface="Arial" pitchFamily="34" charset="-120"/>
              </a:rPr>
              <a:t>Develop an RL agent that learns to play Wordle, and compare it rigorously against a random baseline and an information-theoretic heuristic.</a:t>
            </a:r>
            <a:endParaRPr lang="en-US" sz="1600" dirty="0"/>
          </a:p>
        </p:txBody>
      </p:sp>
      <p:sp>
        <p:nvSpPr>
          <p:cNvPr id="12" name="Shape 10"/>
          <p:cNvSpPr/>
          <p:nvPr/>
        </p:nvSpPr>
        <p:spPr>
          <a:xfrm>
            <a:off x="548640" y="2788920"/>
            <a:ext cx="3593592" cy="1463040"/>
          </a:xfrm>
          <a:prstGeom prst="roundRect">
            <a:avLst>
              <a:gd name="adj" fmla="val 5000"/>
            </a:avLst>
          </a:prstGeom>
          <a:solidFill>
            <a:srgbClr val="F3F4F5"/>
          </a:solidFill>
          <a:ln w="12700">
            <a:solidFill>
              <a:srgbClr val="F3F4F5"/>
            </a:solidFill>
            <a:prstDash val="solid"/>
          </a:ln>
        </p:spPr>
      </p:sp>
      <p:sp>
        <p:nvSpPr>
          <p:cNvPr id="13" name="Text 11"/>
          <p:cNvSpPr txBox="1"/>
          <p:nvPr/>
        </p:nvSpPr>
        <p:spPr>
          <a:xfrm>
            <a:off x="777240" y="3017520"/>
            <a:ext cx="411480" cy="411480"/>
          </a:xfrm>
          <a:prstGeom prst="roundRect">
            <a:avLst>
              <a:gd name="adj" fmla="val 13333"/>
            </a:avLst>
          </a:prstGeom>
          <a:solidFill>
            <a:srgbClr val="6AAA64"/>
          </a:solidFill>
          <a:ln>
            <a:solidFill>
              <a:srgbClr val="6AAA64"/>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4" name="Text 12"/>
          <p:cNvSpPr txBox="1"/>
          <p:nvPr/>
        </p:nvSpPr>
        <p:spPr>
          <a:xfrm>
            <a:off x="777240" y="3538728"/>
            <a:ext cx="3154680" cy="65836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Model Wordle as an MDP with states, actions, rewards and transitions</a:t>
            </a:r>
            <a:endParaRPr lang="en-US" sz="1400" dirty="0"/>
          </a:p>
        </p:txBody>
      </p:sp>
      <p:sp>
        <p:nvSpPr>
          <p:cNvPr id="15" name="Shape 13"/>
          <p:cNvSpPr/>
          <p:nvPr/>
        </p:nvSpPr>
        <p:spPr>
          <a:xfrm>
            <a:off x="4297680" y="2788920"/>
            <a:ext cx="3593592" cy="1463040"/>
          </a:xfrm>
          <a:prstGeom prst="roundRect">
            <a:avLst>
              <a:gd name="adj" fmla="val 5000"/>
            </a:avLst>
          </a:prstGeom>
          <a:solidFill>
            <a:srgbClr val="F3F4F5"/>
          </a:solidFill>
          <a:ln w="12700">
            <a:solidFill>
              <a:srgbClr val="F3F4F5"/>
            </a:solidFill>
            <a:prstDash val="solid"/>
          </a:ln>
        </p:spPr>
      </p:sp>
      <p:sp>
        <p:nvSpPr>
          <p:cNvPr id="16" name="Text 14"/>
          <p:cNvSpPr txBox="1"/>
          <p:nvPr/>
        </p:nvSpPr>
        <p:spPr>
          <a:xfrm>
            <a:off x="4526280" y="3017520"/>
            <a:ext cx="411480" cy="411480"/>
          </a:xfrm>
          <a:prstGeom prst="roundRect">
            <a:avLst>
              <a:gd name="adj" fmla="val 13333"/>
            </a:avLst>
          </a:prstGeom>
          <a:solidFill>
            <a:srgbClr val="C9B458"/>
          </a:solidFill>
          <a:ln>
            <a:solidFill>
              <a:srgbClr val="C9B458"/>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7" name="Text 15"/>
          <p:cNvSpPr txBox="1"/>
          <p:nvPr/>
        </p:nvSpPr>
        <p:spPr>
          <a:xfrm>
            <a:off x="4526280" y="3538728"/>
            <a:ext cx="3154680" cy="65836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Design a compact 183-dim state representation</a:t>
            </a:r>
            <a:endParaRPr lang="en-US" sz="1400" dirty="0"/>
          </a:p>
        </p:txBody>
      </p:sp>
      <p:sp>
        <p:nvSpPr>
          <p:cNvPr id="18" name="Shape 16"/>
          <p:cNvSpPr/>
          <p:nvPr/>
        </p:nvSpPr>
        <p:spPr>
          <a:xfrm>
            <a:off x="8046720" y="2788920"/>
            <a:ext cx="3593592" cy="1463040"/>
          </a:xfrm>
          <a:prstGeom prst="roundRect">
            <a:avLst>
              <a:gd name="adj" fmla="val 5000"/>
            </a:avLst>
          </a:prstGeom>
          <a:solidFill>
            <a:srgbClr val="F3F4F5"/>
          </a:solidFill>
          <a:ln w="12700">
            <a:solidFill>
              <a:srgbClr val="F3F4F5"/>
            </a:solidFill>
            <a:prstDash val="solid"/>
          </a:ln>
        </p:spPr>
      </p:sp>
      <p:sp>
        <p:nvSpPr>
          <p:cNvPr id="19" name="Text 17"/>
          <p:cNvSpPr txBox="1"/>
          <p:nvPr/>
        </p:nvSpPr>
        <p:spPr>
          <a:xfrm>
            <a:off x="8275320" y="3017520"/>
            <a:ext cx="411480" cy="411480"/>
          </a:xfrm>
          <a:prstGeom prst="roundRect">
            <a:avLst>
              <a:gd name="adj" fmla="val 13333"/>
            </a:avLst>
          </a:prstGeom>
          <a:solidFill>
            <a:srgbClr val="787C7E"/>
          </a:solidFill>
          <a:ln>
            <a:solidFill>
              <a:srgbClr val="787C7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0" name="Text 18"/>
          <p:cNvSpPr txBox="1"/>
          <p:nvPr/>
        </p:nvSpPr>
        <p:spPr>
          <a:xfrm>
            <a:off x="8275320" y="3538728"/>
            <a:ext cx="3154680" cy="65836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Implement DQN with action masking, Double DQN and prioritized replay</a:t>
            </a:r>
            <a:endParaRPr lang="en-US" sz="1400" dirty="0"/>
          </a:p>
        </p:txBody>
      </p:sp>
      <p:sp>
        <p:nvSpPr>
          <p:cNvPr id="21" name="Shape 19"/>
          <p:cNvSpPr/>
          <p:nvPr/>
        </p:nvSpPr>
        <p:spPr>
          <a:xfrm>
            <a:off x="548640" y="4434840"/>
            <a:ext cx="3593592" cy="1463040"/>
          </a:xfrm>
          <a:prstGeom prst="roundRect">
            <a:avLst>
              <a:gd name="adj" fmla="val 5000"/>
            </a:avLst>
          </a:prstGeom>
          <a:solidFill>
            <a:srgbClr val="F3F4F5"/>
          </a:solidFill>
          <a:ln w="12700">
            <a:solidFill>
              <a:srgbClr val="F3F4F5"/>
            </a:solidFill>
            <a:prstDash val="solid"/>
          </a:ln>
        </p:spPr>
      </p:sp>
      <p:sp>
        <p:nvSpPr>
          <p:cNvPr id="22" name="Text 20"/>
          <p:cNvSpPr txBox="1"/>
          <p:nvPr/>
        </p:nvSpPr>
        <p:spPr>
          <a:xfrm>
            <a:off x="777240" y="4663440"/>
            <a:ext cx="411480" cy="411480"/>
          </a:xfrm>
          <a:prstGeom prst="roundRect">
            <a:avLst>
              <a:gd name="adj" fmla="val 13333"/>
            </a:avLst>
          </a:prstGeom>
          <a:solidFill>
            <a:srgbClr val="6AAA64"/>
          </a:solidFill>
          <a:ln>
            <a:solidFill>
              <a:srgbClr val="6AAA64"/>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777240" y="5184648"/>
            <a:ext cx="3154680" cy="65836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Train and evaluate at 200, 2,309 and 8,636-word pools</a:t>
            </a:r>
            <a:endParaRPr lang="en-US" sz="1400" dirty="0"/>
          </a:p>
        </p:txBody>
      </p:sp>
      <p:sp>
        <p:nvSpPr>
          <p:cNvPr id="24" name="Shape 22"/>
          <p:cNvSpPr/>
          <p:nvPr/>
        </p:nvSpPr>
        <p:spPr>
          <a:xfrm>
            <a:off x="4297680" y="4434840"/>
            <a:ext cx="3593592" cy="1463040"/>
          </a:xfrm>
          <a:prstGeom prst="roundRect">
            <a:avLst>
              <a:gd name="adj" fmla="val 5000"/>
            </a:avLst>
          </a:prstGeom>
          <a:solidFill>
            <a:srgbClr val="F3F4F5"/>
          </a:solidFill>
          <a:ln w="12700">
            <a:solidFill>
              <a:srgbClr val="F3F4F5"/>
            </a:solidFill>
            <a:prstDash val="solid"/>
          </a:ln>
        </p:spPr>
      </p:sp>
      <p:sp>
        <p:nvSpPr>
          <p:cNvPr id="25" name="Text 23"/>
          <p:cNvSpPr txBox="1"/>
          <p:nvPr/>
        </p:nvSpPr>
        <p:spPr>
          <a:xfrm>
            <a:off x="4526280" y="4663440"/>
            <a:ext cx="411480" cy="411480"/>
          </a:xfrm>
          <a:prstGeom prst="roundRect">
            <a:avLst>
              <a:gd name="adj" fmla="val 13333"/>
            </a:avLst>
          </a:prstGeom>
          <a:solidFill>
            <a:srgbClr val="C9B458"/>
          </a:solidFill>
          <a:ln>
            <a:solidFill>
              <a:srgbClr val="C9B458"/>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6" name="Text 24"/>
          <p:cNvSpPr txBox="1"/>
          <p:nvPr/>
        </p:nvSpPr>
        <p:spPr>
          <a:xfrm>
            <a:off x="4526280" y="5184648"/>
            <a:ext cx="3154680" cy="65836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Benchmark against a lower bound and an upper bound</a:t>
            </a:r>
            <a:endParaRPr lang="en-US" sz="1400" dirty="0"/>
          </a:p>
        </p:txBody>
      </p:sp>
      <p:sp>
        <p:nvSpPr>
          <p:cNvPr id="27" name="Shape 25"/>
          <p:cNvSpPr/>
          <p:nvPr/>
        </p:nvSpPr>
        <p:spPr>
          <a:xfrm>
            <a:off x="8046720" y="4434840"/>
            <a:ext cx="3593592" cy="1463040"/>
          </a:xfrm>
          <a:prstGeom prst="roundRect">
            <a:avLst>
              <a:gd name="adj" fmla="val 5000"/>
            </a:avLst>
          </a:prstGeom>
          <a:solidFill>
            <a:srgbClr val="F3F4F5"/>
          </a:solidFill>
          <a:ln w="12700">
            <a:solidFill>
              <a:srgbClr val="F3F4F5"/>
            </a:solidFill>
            <a:prstDash val="solid"/>
          </a:ln>
        </p:spPr>
      </p:sp>
      <p:sp>
        <p:nvSpPr>
          <p:cNvPr id="28" name="Text 26"/>
          <p:cNvSpPr txBox="1"/>
          <p:nvPr/>
        </p:nvSpPr>
        <p:spPr>
          <a:xfrm>
            <a:off x="8275320" y="4663440"/>
            <a:ext cx="411480" cy="411480"/>
          </a:xfrm>
          <a:prstGeom prst="roundRect">
            <a:avLst>
              <a:gd name="adj" fmla="val 13333"/>
            </a:avLst>
          </a:prstGeom>
          <a:solidFill>
            <a:srgbClr val="787C7E"/>
          </a:solidFill>
          <a:ln>
            <a:solidFill>
              <a:srgbClr val="787C7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9" name="Text 27"/>
          <p:cNvSpPr txBox="1"/>
          <p:nvPr/>
        </p:nvSpPr>
        <p:spPr>
          <a:xfrm>
            <a:off x="8275320" y="5184648"/>
            <a:ext cx="3154680" cy="65836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Validate the evaluation pipeline itself</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PROPOSED SOLUTION</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How reinforcement learning solves it</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4</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sp>
        <p:nvSpPr>
          <p:cNvPr id="9" name="Shape 7"/>
          <p:cNvSpPr/>
          <p:nvPr/>
        </p:nvSpPr>
        <p:spPr>
          <a:xfrm>
            <a:off x="548640" y="1691640"/>
            <a:ext cx="2606040" cy="3108960"/>
          </a:xfrm>
          <a:prstGeom prst="roundRect">
            <a:avLst>
              <a:gd name="adj" fmla="val 2807"/>
            </a:avLst>
          </a:prstGeom>
          <a:solidFill>
            <a:srgbClr val="F3F4F5"/>
          </a:solidFill>
          <a:ln w="12700">
            <a:solidFill>
              <a:srgbClr val="F3F4F5"/>
            </a:solidFill>
            <a:prstDash val="solid"/>
          </a:ln>
        </p:spPr>
      </p:sp>
      <p:sp>
        <p:nvSpPr>
          <p:cNvPr id="10" name="Text 8"/>
          <p:cNvSpPr txBox="1"/>
          <p:nvPr/>
        </p:nvSpPr>
        <p:spPr>
          <a:xfrm>
            <a:off x="822960" y="1965960"/>
            <a:ext cx="685800" cy="685800"/>
          </a:xfrm>
          <a:prstGeom prst="roundRect">
            <a:avLst>
              <a:gd name="adj" fmla="val 8000"/>
            </a:avLst>
          </a:prstGeom>
          <a:solidFill>
            <a:srgbClr val="6AAA64"/>
          </a:solidFill>
          <a:ln>
            <a:solidFill>
              <a:srgbClr val="6AAA64"/>
            </a:solid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11" name="Text 9"/>
          <p:cNvSpPr txBox="1"/>
          <p:nvPr/>
        </p:nvSpPr>
        <p:spPr>
          <a:xfrm>
            <a:off x="822960" y="2880360"/>
            <a:ext cx="2148840" cy="685800"/>
          </a:xfrm>
          <a:prstGeom prst="rect">
            <a:avLst/>
          </a:prstGeom>
          <a:noFill/>
          <a:ln/>
        </p:spPr>
        <p:txBody>
          <a:bodyPr wrap="square" lIns="0" tIns="0" rIns="0" bIns="0" rtlCol="0" anchor="t"/>
          <a:lstStyle/>
          <a:p>
            <a:pPr indent="0" marL="0">
              <a:buNone/>
            </a:pPr>
            <a:r>
              <a:rPr lang="en-US" sz="1800" b="1" dirty="0">
                <a:solidFill>
                  <a:srgbClr val="1A1A1B"/>
                </a:solidFill>
                <a:latin typeface="Arial" pitchFamily="34" charset="0"/>
                <a:ea typeface="Arial" pitchFamily="34" charset="-122"/>
                <a:cs typeface="Arial" pitchFamily="34" charset="-120"/>
              </a:rPr>
              <a:t>Model as an MDP</a:t>
            </a:r>
            <a:endParaRPr lang="en-US" sz="1800" dirty="0"/>
          </a:p>
        </p:txBody>
      </p:sp>
      <p:sp>
        <p:nvSpPr>
          <p:cNvPr id="12" name="Text 10"/>
          <p:cNvSpPr txBox="1"/>
          <p:nvPr/>
        </p:nvSpPr>
        <p:spPr>
          <a:xfrm>
            <a:off x="822960" y="3566160"/>
            <a:ext cx="2148840" cy="109728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Each turn becomes a state; each guess becomes an action.</a:t>
            </a:r>
            <a:endParaRPr lang="en-US" sz="1400" dirty="0"/>
          </a:p>
        </p:txBody>
      </p:sp>
      <p:sp>
        <p:nvSpPr>
          <p:cNvPr id="13" name="Text 11"/>
          <p:cNvSpPr txBox="1"/>
          <p:nvPr/>
        </p:nvSpPr>
        <p:spPr>
          <a:xfrm>
            <a:off x="3136392" y="2926080"/>
            <a:ext cx="274320" cy="457200"/>
          </a:xfrm>
          <a:prstGeom prst="rect">
            <a:avLst/>
          </a:prstGeom>
          <a:noFill/>
          <a:ln/>
        </p:spPr>
        <p:txBody>
          <a:bodyPr wrap="square" lIns="0" tIns="0" rIns="0" bIns="0" rtlCol="0" anchor="ctr"/>
          <a:lstStyle/>
          <a:p>
            <a:pPr algn="ctr" indent="0" marL="0">
              <a:buNone/>
            </a:pPr>
            <a:r>
              <a:rPr lang="en-US" sz="3000" dirty="0">
                <a:solidFill>
                  <a:srgbClr val="787C7E"/>
                </a:solidFill>
              </a:rPr>
              <a:t>›</a:t>
            </a:r>
            <a:endParaRPr lang="en-US" sz="3000" dirty="0"/>
          </a:p>
        </p:txBody>
      </p:sp>
      <p:sp>
        <p:nvSpPr>
          <p:cNvPr id="14" name="Shape 12"/>
          <p:cNvSpPr/>
          <p:nvPr/>
        </p:nvSpPr>
        <p:spPr>
          <a:xfrm>
            <a:off x="3383280" y="1691640"/>
            <a:ext cx="2606040" cy="3108960"/>
          </a:xfrm>
          <a:prstGeom prst="roundRect">
            <a:avLst>
              <a:gd name="adj" fmla="val 2807"/>
            </a:avLst>
          </a:prstGeom>
          <a:solidFill>
            <a:srgbClr val="F3F4F5"/>
          </a:solidFill>
          <a:ln w="12700">
            <a:solidFill>
              <a:srgbClr val="F3F4F5"/>
            </a:solidFill>
            <a:prstDash val="solid"/>
          </a:ln>
        </p:spPr>
      </p:sp>
      <p:sp>
        <p:nvSpPr>
          <p:cNvPr id="15" name="Text 13"/>
          <p:cNvSpPr txBox="1"/>
          <p:nvPr/>
        </p:nvSpPr>
        <p:spPr>
          <a:xfrm>
            <a:off x="3657600" y="1965960"/>
            <a:ext cx="685800" cy="685800"/>
          </a:xfrm>
          <a:prstGeom prst="roundRect">
            <a:avLst>
              <a:gd name="adj" fmla="val 8000"/>
            </a:avLst>
          </a:prstGeom>
          <a:solidFill>
            <a:srgbClr val="C9B458"/>
          </a:solidFill>
          <a:ln>
            <a:solidFill>
              <a:srgbClr val="C9B458"/>
            </a:solid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6" name="Text 14"/>
          <p:cNvSpPr txBox="1"/>
          <p:nvPr/>
        </p:nvSpPr>
        <p:spPr>
          <a:xfrm>
            <a:off x="3657600" y="2880360"/>
            <a:ext cx="2148840" cy="685800"/>
          </a:xfrm>
          <a:prstGeom prst="rect">
            <a:avLst/>
          </a:prstGeom>
          <a:noFill/>
          <a:ln/>
        </p:spPr>
        <p:txBody>
          <a:bodyPr wrap="square" lIns="0" tIns="0" rIns="0" bIns="0" rtlCol="0" anchor="t"/>
          <a:lstStyle/>
          <a:p>
            <a:pPr indent="0" marL="0">
              <a:buNone/>
            </a:pPr>
            <a:r>
              <a:rPr lang="en-US" sz="1800" b="1" dirty="0">
                <a:solidFill>
                  <a:srgbClr val="1A1A1B"/>
                </a:solidFill>
                <a:latin typeface="Arial" pitchFamily="34" charset="0"/>
                <a:ea typeface="Arial" pitchFamily="34" charset="-122"/>
                <a:cs typeface="Arial" pitchFamily="34" charset="-120"/>
              </a:rPr>
              <a:t>Encode the state</a:t>
            </a:r>
            <a:endParaRPr lang="en-US" sz="1800" dirty="0"/>
          </a:p>
        </p:txBody>
      </p:sp>
      <p:sp>
        <p:nvSpPr>
          <p:cNvPr id="17" name="Text 15"/>
          <p:cNvSpPr txBox="1"/>
          <p:nvPr/>
        </p:nvSpPr>
        <p:spPr>
          <a:xfrm>
            <a:off x="3657600" y="3566160"/>
            <a:ext cx="2148840" cy="109728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Compress all feedback into a fixed 183-number vector.</a:t>
            </a:r>
            <a:endParaRPr lang="en-US" sz="1400" dirty="0"/>
          </a:p>
        </p:txBody>
      </p:sp>
      <p:sp>
        <p:nvSpPr>
          <p:cNvPr id="18" name="Text 16"/>
          <p:cNvSpPr txBox="1"/>
          <p:nvPr/>
        </p:nvSpPr>
        <p:spPr>
          <a:xfrm>
            <a:off x="5971032" y="2926080"/>
            <a:ext cx="274320" cy="457200"/>
          </a:xfrm>
          <a:prstGeom prst="rect">
            <a:avLst/>
          </a:prstGeom>
          <a:noFill/>
          <a:ln/>
        </p:spPr>
        <p:txBody>
          <a:bodyPr wrap="square" lIns="0" tIns="0" rIns="0" bIns="0" rtlCol="0" anchor="ctr"/>
          <a:lstStyle/>
          <a:p>
            <a:pPr algn="ctr" indent="0" marL="0">
              <a:buNone/>
            </a:pPr>
            <a:r>
              <a:rPr lang="en-US" sz="3000" dirty="0">
                <a:solidFill>
                  <a:srgbClr val="787C7E"/>
                </a:solidFill>
              </a:rPr>
              <a:t>›</a:t>
            </a:r>
            <a:endParaRPr lang="en-US" sz="3000" dirty="0"/>
          </a:p>
        </p:txBody>
      </p:sp>
      <p:sp>
        <p:nvSpPr>
          <p:cNvPr id="19" name="Shape 17"/>
          <p:cNvSpPr/>
          <p:nvPr/>
        </p:nvSpPr>
        <p:spPr>
          <a:xfrm>
            <a:off x="6217920" y="1691640"/>
            <a:ext cx="2606040" cy="3108960"/>
          </a:xfrm>
          <a:prstGeom prst="roundRect">
            <a:avLst>
              <a:gd name="adj" fmla="val 2807"/>
            </a:avLst>
          </a:prstGeom>
          <a:solidFill>
            <a:srgbClr val="F3F4F5"/>
          </a:solidFill>
          <a:ln w="12700">
            <a:solidFill>
              <a:srgbClr val="F3F4F5"/>
            </a:solidFill>
            <a:prstDash val="solid"/>
          </a:ln>
        </p:spPr>
      </p:sp>
      <p:sp>
        <p:nvSpPr>
          <p:cNvPr id="20" name="Text 18"/>
          <p:cNvSpPr txBox="1"/>
          <p:nvPr/>
        </p:nvSpPr>
        <p:spPr>
          <a:xfrm>
            <a:off x="6492240" y="1965960"/>
            <a:ext cx="685800" cy="685800"/>
          </a:xfrm>
          <a:prstGeom prst="roundRect">
            <a:avLst>
              <a:gd name="adj" fmla="val 8000"/>
            </a:avLst>
          </a:prstGeom>
          <a:solidFill>
            <a:srgbClr val="787C7E"/>
          </a:solidFill>
          <a:ln>
            <a:solidFill>
              <a:srgbClr val="787C7E"/>
            </a:solid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21" name="Text 19"/>
          <p:cNvSpPr txBox="1"/>
          <p:nvPr/>
        </p:nvSpPr>
        <p:spPr>
          <a:xfrm>
            <a:off x="6492240" y="2880360"/>
            <a:ext cx="2148840" cy="685800"/>
          </a:xfrm>
          <a:prstGeom prst="rect">
            <a:avLst/>
          </a:prstGeom>
          <a:noFill/>
          <a:ln/>
        </p:spPr>
        <p:txBody>
          <a:bodyPr wrap="square" lIns="0" tIns="0" rIns="0" bIns="0" rtlCol="0" anchor="t"/>
          <a:lstStyle/>
          <a:p>
            <a:pPr indent="0" marL="0">
              <a:buNone/>
            </a:pPr>
            <a:r>
              <a:rPr lang="en-US" sz="1800" b="1" dirty="0">
                <a:solidFill>
                  <a:srgbClr val="1A1A1B"/>
                </a:solidFill>
                <a:latin typeface="Arial" pitchFamily="34" charset="0"/>
                <a:ea typeface="Arial" pitchFamily="34" charset="-122"/>
                <a:cs typeface="Arial" pitchFamily="34" charset="-120"/>
              </a:rPr>
              <a:t>Mask impossible words</a:t>
            </a:r>
            <a:endParaRPr lang="en-US" sz="1800" dirty="0"/>
          </a:p>
        </p:txBody>
      </p:sp>
      <p:sp>
        <p:nvSpPr>
          <p:cNvPr id="22" name="Text 20"/>
          <p:cNvSpPr txBox="1"/>
          <p:nvPr/>
        </p:nvSpPr>
        <p:spPr>
          <a:xfrm>
            <a:off x="6492240" y="3566160"/>
            <a:ext cx="2148840" cy="109728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Remove words that contradict feedback before choosing.</a:t>
            </a:r>
            <a:endParaRPr lang="en-US" sz="1400" dirty="0"/>
          </a:p>
        </p:txBody>
      </p:sp>
      <p:sp>
        <p:nvSpPr>
          <p:cNvPr id="23" name="Text 21"/>
          <p:cNvSpPr txBox="1"/>
          <p:nvPr/>
        </p:nvSpPr>
        <p:spPr>
          <a:xfrm>
            <a:off x="8805672" y="2926080"/>
            <a:ext cx="274320" cy="457200"/>
          </a:xfrm>
          <a:prstGeom prst="rect">
            <a:avLst/>
          </a:prstGeom>
          <a:noFill/>
          <a:ln/>
        </p:spPr>
        <p:txBody>
          <a:bodyPr wrap="square" lIns="0" tIns="0" rIns="0" bIns="0" rtlCol="0" anchor="ctr"/>
          <a:lstStyle/>
          <a:p>
            <a:pPr algn="ctr" indent="0" marL="0">
              <a:buNone/>
            </a:pPr>
            <a:r>
              <a:rPr lang="en-US" sz="3000" dirty="0">
                <a:solidFill>
                  <a:srgbClr val="787C7E"/>
                </a:solidFill>
              </a:rPr>
              <a:t>›</a:t>
            </a:r>
            <a:endParaRPr lang="en-US" sz="3000" dirty="0"/>
          </a:p>
        </p:txBody>
      </p:sp>
      <p:sp>
        <p:nvSpPr>
          <p:cNvPr id="24" name="Shape 22"/>
          <p:cNvSpPr/>
          <p:nvPr/>
        </p:nvSpPr>
        <p:spPr>
          <a:xfrm>
            <a:off x="9052560" y="1691640"/>
            <a:ext cx="2606040" cy="3108960"/>
          </a:xfrm>
          <a:prstGeom prst="roundRect">
            <a:avLst>
              <a:gd name="adj" fmla="val 2807"/>
            </a:avLst>
          </a:prstGeom>
          <a:solidFill>
            <a:srgbClr val="F3F4F5"/>
          </a:solidFill>
          <a:ln w="12700">
            <a:solidFill>
              <a:srgbClr val="F3F4F5"/>
            </a:solidFill>
            <a:prstDash val="solid"/>
          </a:ln>
        </p:spPr>
      </p:sp>
      <p:sp>
        <p:nvSpPr>
          <p:cNvPr id="25" name="Text 23"/>
          <p:cNvSpPr txBox="1"/>
          <p:nvPr/>
        </p:nvSpPr>
        <p:spPr>
          <a:xfrm>
            <a:off x="9326880" y="1965960"/>
            <a:ext cx="685800" cy="685800"/>
          </a:xfrm>
          <a:prstGeom prst="roundRect">
            <a:avLst>
              <a:gd name="adj" fmla="val 8000"/>
            </a:avLst>
          </a:prstGeom>
          <a:solidFill>
            <a:srgbClr val="6AAA64"/>
          </a:solidFill>
          <a:ln>
            <a:solidFill>
              <a:srgbClr val="6AAA64"/>
            </a:solid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p:txBody>
      </p:sp>
      <p:sp>
        <p:nvSpPr>
          <p:cNvPr id="26" name="Text 24"/>
          <p:cNvSpPr txBox="1"/>
          <p:nvPr/>
        </p:nvSpPr>
        <p:spPr>
          <a:xfrm>
            <a:off x="9326880" y="2880360"/>
            <a:ext cx="2148840" cy="685800"/>
          </a:xfrm>
          <a:prstGeom prst="rect">
            <a:avLst/>
          </a:prstGeom>
          <a:noFill/>
          <a:ln/>
        </p:spPr>
        <p:txBody>
          <a:bodyPr wrap="square" lIns="0" tIns="0" rIns="0" bIns="0" rtlCol="0" anchor="t"/>
          <a:lstStyle/>
          <a:p>
            <a:pPr indent="0" marL="0">
              <a:buNone/>
            </a:pPr>
            <a:r>
              <a:rPr lang="en-US" sz="1800" b="1" dirty="0">
                <a:solidFill>
                  <a:srgbClr val="1A1A1B"/>
                </a:solidFill>
                <a:latin typeface="Arial" pitchFamily="34" charset="0"/>
                <a:ea typeface="Arial" pitchFamily="34" charset="-122"/>
                <a:cs typeface="Arial" pitchFamily="34" charset="-120"/>
              </a:rPr>
              <a:t>Learn Q(s, a)</a:t>
            </a:r>
            <a:endParaRPr lang="en-US" sz="1800" dirty="0"/>
          </a:p>
        </p:txBody>
      </p:sp>
      <p:sp>
        <p:nvSpPr>
          <p:cNvPr id="27" name="Text 25"/>
          <p:cNvSpPr txBox="1"/>
          <p:nvPr/>
        </p:nvSpPr>
        <p:spPr>
          <a:xfrm>
            <a:off x="9326880" y="3566160"/>
            <a:ext cx="2148840" cy="109728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A neural network learns how good each guess is from each state.</a:t>
            </a:r>
            <a:endParaRPr lang="en-US" sz="1400" dirty="0"/>
          </a:p>
        </p:txBody>
      </p:sp>
      <p:sp>
        <p:nvSpPr>
          <p:cNvPr id="28" name="Shape 26"/>
          <p:cNvSpPr/>
          <p:nvPr/>
        </p:nvSpPr>
        <p:spPr>
          <a:xfrm>
            <a:off x="548640" y="5074920"/>
            <a:ext cx="11091672" cy="960120"/>
          </a:xfrm>
          <a:prstGeom prst="roundRect">
            <a:avLst>
              <a:gd name="adj" fmla="val 7619"/>
            </a:avLst>
          </a:prstGeom>
          <a:solidFill>
            <a:srgbClr val="FBF6E6"/>
          </a:solidFill>
          <a:ln w="12700">
            <a:solidFill>
              <a:srgbClr val="FBF6E6"/>
            </a:solidFill>
            <a:prstDash val="solid"/>
          </a:ln>
        </p:spPr>
      </p:sp>
      <p:sp>
        <p:nvSpPr>
          <p:cNvPr id="29" name="Text 27"/>
          <p:cNvSpPr txBox="1"/>
          <p:nvPr/>
        </p:nvSpPr>
        <p:spPr>
          <a:xfrm>
            <a:off x="822960" y="5212080"/>
            <a:ext cx="10607040" cy="731520"/>
          </a:xfrm>
          <a:prstGeom prst="rect">
            <a:avLst/>
          </a:prstGeom>
          <a:noFill/>
          <a:ln/>
        </p:spPr>
        <p:txBody>
          <a:bodyPr wrap="square" lIns="0" tIns="0" rIns="0" bIns="0" rtlCol="0" anchor="ctr"/>
          <a:lstStyle/>
          <a:p>
            <a:pPr indent="0" marL="0">
              <a:buNone/>
            </a:pPr>
            <a:r>
              <a:rPr lang="en-US" sz="1500" dirty="0">
                <a:solidFill>
                  <a:srgbClr val="1A1A1B"/>
                </a:solidFill>
                <a:latin typeface="Arial" pitchFamily="34" charset="0"/>
                <a:ea typeface="Arial" pitchFamily="34" charset="-122"/>
                <a:cs typeface="Arial" pitchFamily="34" charset="-120"/>
              </a:rPr>
              <a:t>The key idea: a guess is valuable if it removes uncertainty, even when it cannot possibly be the answer. Our reward function pays the agent for that directly.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RL PARADIGM</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Agent, environment, and the learning loop</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5</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sp>
        <p:nvSpPr>
          <p:cNvPr id="9" name="Shape 7"/>
          <p:cNvSpPr/>
          <p:nvPr/>
        </p:nvSpPr>
        <p:spPr>
          <a:xfrm>
            <a:off x="548640" y="2697480"/>
            <a:ext cx="1920240" cy="1325880"/>
          </a:xfrm>
          <a:prstGeom prst="roundRect">
            <a:avLst>
              <a:gd name="adj" fmla="val 6897"/>
            </a:avLst>
          </a:prstGeom>
          <a:solidFill>
            <a:srgbClr val="6AAA64"/>
          </a:solidFill>
          <a:ln w="12700">
            <a:solidFill>
              <a:srgbClr val="6AAA64"/>
            </a:solidFill>
            <a:prstDash val="solid"/>
          </a:ln>
        </p:spPr>
      </p:sp>
      <p:sp>
        <p:nvSpPr>
          <p:cNvPr id="10" name="Text 8"/>
          <p:cNvSpPr txBox="1"/>
          <p:nvPr/>
        </p:nvSpPr>
        <p:spPr>
          <a:xfrm>
            <a:off x="548640" y="2926080"/>
            <a:ext cx="1920240"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AGENT</a:t>
            </a:r>
            <a:endParaRPr lang="en-US" sz="1500" dirty="0"/>
          </a:p>
        </p:txBody>
      </p:sp>
      <p:sp>
        <p:nvSpPr>
          <p:cNvPr id="11" name="Text 9"/>
          <p:cNvSpPr txBox="1"/>
          <p:nvPr/>
        </p:nvSpPr>
        <p:spPr>
          <a:xfrm>
            <a:off x="548640" y="3337560"/>
            <a:ext cx="1920240" cy="365760"/>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Deep Q-Network</a:t>
            </a:r>
            <a:endParaRPr lang="en-US" sz="1250" dirty="0"/>
          </a:p>
        </p:txBody>
      </p:sp>
      <p:sp>
        <p:nvSpPr>
          <p:cNvPr id="12" name="Shape 10"/>
          <p:cNvSpPr/>
          <p:nvPr/>
        </p:nvSpPr>
        <p:spPr>
          <a:xfrm>
            <a:off x="4160520" y="2697480"/>
            <a:ext cx="1920240" cy="1325880"/>
          </a:xfrm>
          <a:prstGeom prst="roundRect">
            <a:avLst>
              <a:gd name="adj" fmla="val 6897"/>
            </a:avLst>
          </a:prstGeom>
          <a:solidFill>
            <a:srgbClr val="787C7E"/>
          </a:solidFill>
          <a:ln w="12700">
            <a:solidFill>
              <a:srgbClr val="787C7E"/>
            </a:solidFill>
            <a:prstDash val="solid"/>
          </a:ln>
        </p:spPr>
      </p:sp>
      <p:sp>
        <p:nvSpPr>
          <p:cNvPr id="13" name="Text 11"/>
          <p:cNvSpPr txBox="1"/>
          <p:nvPr/>
        </p:nvSpPr>
        <p:spPr>
          <a:xfrm>
            <a:off x="4160520" y="2926080"/>
            <a:ext cx="1920240"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ENVIRONMENT</a:t>
            </a:r>
            <a:endParaRPr lang="en-US" sz="1500" dirty="0"/>
          </a:p>
        </p:txBody>
      </p:sp>
      <p:sp>
        <p:nvSpPr>
          <p:cNvPr id="14" name="Text 12"/>
          <p:cNvSpPr txBox="1"/>
          <p:nvPr/>
        </p:nvSpPr>
        <p:spPr>
          <a:xfrm>
            <a:off x="4160520" y="3337560"/>
            <a:ext cx="1920240" cy="365760"/>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Wordle simulator</a:t>
            </a:r>
            <a:endParaRPr lang="en-US" sz="1250" dirty="0"/>
          </a:p>
        </p:txBody>
      </p:sp>
      <p:sp>
        <p:nvSpPr>
          <p:cNvPr id="15" name="Shape 13"/>
          <p:cNvSpPr/>
          <p:nvPr/>
        </p:nvSpPr>
        <p:spPr>
          <a:xfrm>
            <a:off x="2560320" y="3017520"/>
            <a:ext cx="1508760" cy="0"/>
          </a:xfrm>
          <a:prstGeom prst="line">
            <a:avLst/>
          </a:prstGeom>
          <a:noFill/>
          <a:ln w="25400">
            <a:solidFill>
              <a:srgbClr val="1A1A1B"/>
            </a:solidFill>
            <a:prstDash val="solid"/>
            <a:tailEnd type="triangle"/>
          </a:ln>
        </p:spPr>
      </p:sp>
      <p:sp>
        <p:nvSpPr>
          <p:cNvPr id="16" name="Text 14"/>
          <p:cNvSpPr txBox="1"/>
          <p:nvPr/>
        </p:nvSpPr>
        <p:spPr>
          <a:xfrm>
            <a:off x="2377440" y="2240280"/>
            <a:ext cx="1874520" cy="685800"/>
          </a:xfrm>
          <a:prstGeom prst="rect">
            <a:avLst/>
          </a:prstGeom>
          <a:noFill/>
          <a:ln/>
        </p:spPr>
        <p:txBody>
          <a:bodyPr wrap="square" lIns="0" tIns="0" rIns="0" bIns="0" rtlCol="0" anchor="b"/>
          <a:lstStyle/>
          <a:p>
            <a:pPr algn="ctr" indent="0" marL="0">
              <a:buNone/>
            </a:pPr>
            <a:r>
              <a:rPr lang="en-US" sz="1250" b="1" dirty="0">
                <a:solidFill>
                  <a:srgbClr val="1A1A1B"/>
                </a:solidFill>
                <a:latin typeface="Arial" pitchFamily="34" charset="0"/>
                <a:ea typeface="Arial" pitchFamily="34" charset="-122"/>
                <a:cs typeface="Arial" pitchFamily="34" charset="-120"/>
              </a:rPr>
              <a:t>Action</a:t>
            </a:r>
            <a:endParaRPr lang="en-US" sz="1250" dirty="0"/>
          </a:p>
          <a:p>
            <a:pPr algn="ctr" indent="0" marL="0">
              <a:buNone/>
            </a:pPr>
            <a:r>
              <a:rPr lang="en-US" sz="1250" b="1" dirty="0">
                <a:solidFill>
                  <a:srgbClr val="1A1A1B"/>
                </a:solidFill>
                <a:latin typeface="Arial" pitchFamily="34" charset="0"/>
                <a:ea typeface="Arial" pitchFamily="34" charset="-122"/>
                <a:cs typeface="Arial" pitchFamily="34" charset="-120"/>
              </a:rPr>
              <a:t>guess a word</a:t>
            </a:r>
            <a:endParaRPr lang="en-US" sz="1250" dirty="0"/>
          </a:p>
        </p:txBody>
      </p:sp>
      <p:sp>
        <p:nvSpPr>
          <p:cNvPr id="17" name="Shape 15"/>
          <p:cNvSpPr/>
          <p:nvPr/>
        </p:nvSpPr>
        <p:spPr>
          <a:xfrm>
            <a:off x="2560320" y="3703320"/>
            <a:ext cx="1508760" cy="0"/>
          </a:xfrm>
          <a:prstGeom prst="line">
            <a:avLst/>
          </a:prstGeom>
          <a:noFill/>
          <a:ln w="25400">
            <a:solidFill>
              <a:srgbClr val="1A1A1B"/>
            </a:solidFill>
            <a:prstDash val="solid"/>
            <a:headEnd type="triangle"/>
          </a:ln>
        </p:spPr>
      </p:sp>
      <p:sp>
        <p:nvSpPr>
          <p:cNvPr id="18" name="Text 16"/>
          <p:cNvSpPr txBox="1"/>
          <p:nvPr/>
        </p:nvSpPr>
        <p:spPr>
          <a:xfrm>
            <a:off x="2377440" y="3813048"/>
            <a:ext cx="1874520" cy="685800"/>
          </a:xfrm>
          <a:prstGeom prst="rect">
            <a:avLst/>
          </a:prstGeom>
          <a:noFill/>
          <a:ln/>
        </p:spPr>
        <p:txBody>
          <a:bodyPr wrap="square" lIns="0" tIns="0" rIns="0" bIns="0" rtlCol="0" anchor="t"/>
          <a:lstStyle/>
          <a:p>
            <a:pPr algn="ctr" indent="0" marL="0">
              <a:buNone/>
            </a:pPr>
            <a:r>
              <a:rPr lang="en-US" sz="1250" b="1" dirty="0">
                <a:solidFill>
                  <a:srgbClr val="1A1A1B"/>
                </a:solidFill>
                <a:latin typeface="Arial" pitchFamily="34" charset="0"/>
                <a:ea typeface="Arial" pitchFamily="34" charset="-122"/>
                <a:cs typeface="Arial" pitchFamily="34" charset="-120"/>
              </a:rPr>
              <a:t>State + Reward</a:t>
            </a:r>
            <a:endParaRPr lang="en-US" sz="1250" dirty="0"/>
          </a:p>
          <a:p>
            <a:pPr algn="ctr" indent="0" marL="0">
              <a:buNone/>
            </a:pPr>
            <a:r>
              <a:rPr lang="en-US" sz="1250" b="1" dirty="0">
                <a:solidFill>
                  <a:srgbClr val="1A1A1B"/>
                </a:solidFill>
                <a:latin typeface="Arial" pitchFamily="34" charset="0"/>
                <a:ea typeface="Arial" pitchFamily="34" charset="-122"/>
                <a:cs typeface="Arial" pitchFamily="34" charset="-120"/>
              </a:rPr>
              <a:t>feedback, score</a:t>
            </a:r>
            <a:endParaRPr lang="en-US" sz="1250" dirty="0"/>
          </a:p>
        </p:txBody>
      </p:sp>
      <p:sp>
        <p:nvSpPr>
          <p:cNvPr id="19" name="Shape 17"/>
          <p:cNvSpPr/>
          <p:nvPr/>
        </p:nvSpPr>
        <p:spPr>
          <a:xfrm>
            <a:off x="548640" y="4846320"/>
            <a:ext cx="5532120" cy="868680"/>
          </a:xfrm>
          <a:prstGeom prst="roundRect">
            <a:avLst>
              <a:gd name="adj" fmla="val 8421"/>
            </a:avLst>
          </a:prstGeom>
          <a:solidFill>
            <a:srgbClr val="EAF3E9"/>
          </a:solidFill>
          <a:ln w="12700">
            <a:solidFill>
              <a:srgbClr val="EAF3E9"/>
            </a:solidFill>
            <a:prstDash val="solid"/>
          </a:ln>
        </p:spPr>
      </p:sp>
      <p:sp>
        <p:nvSpPr>
          <p:cNvPr id="20" name="Text 18"/>
          <p:cNvSpPr txBox="1"/>
          <p:nvPr/>
        </p:nvSpPr>
        <p:spPr>
          <a:xfrm>
            <a:off x="777240" y="4846320"/>
            <a:ext cx="5120640" cy="868680"/>
          </a:xfrm>
          <a:prstGeom prst="rect">
            <a:avLst/>
          </a:prstGeom>
          <a:noFill/>
          <a:ln/>
        </p:spPr>
        <p:txBody>
          <a:bodyPr wrap="square" lIns="0" tIns="0" rIns="0" bIns="0" rtlCol="0" anchor="ctr"/>
          <a:lstStyle/>
          <a:p>
            <a:pPr indent="0" marL="0">
              <a:buNone/>
            </a:pPr>
            <a:r>
              <a:rPr lang="en-US" sz="1400" dirty="0">
                <a:solidFill>
                  <a:srgbClr val="1A1A1B"/>
                </a:solidFill>
                <a:latin typeface="Arial" pitchFamily="34" charset="0"/>
                <a:ea typeface="Arial" pitchFamily="34" charset="-122"/>
                <a:cs typeface="Arial" pitchFamily="34" charset="-120"/>
              </a:rPr>
              <a:t>The loop repeats until the word is solved or all 6 guesses are used.</a:t>
            </a:r>
            <a:endParaRPr lang="en-US" sz="1400" dirty="0"/>
          </a:p>
        </p:txBody>
      </p:sp>
      <p:sp>
        <p:nvSpPr>
          <p:cNvPr id="21" name="Shape 19"/>
          <p:cNvSpPr/>
          <p:nvPr/>
        </p:nvSpPr>
        <p:spPr>
          <a:xfrm>
            <a:off x="6400800" y="1554480"/>
            <a:ext cx="5239512" cy="621792"/>
          </a:xfrm>
          <a:prstGeom prst="roundRect">
            <a:avLst>
              <a:gd name="adj" fmla="val 11765"/>
            </a:avLst>
          </a:prstGeom>
          <a:solidFill>
            <a:srgbClr val="F3F4F5"/>
          </a:solidFill>
          <a:ln w="12700">
            <a:solidFill>
              <a:srgbClr val="F3F4F5"/>
            </a:solidFill>
            <a:prstDash val="solid"/>
          </a:ln>
        </p:spPr>
      </p:sp>
      <p:sp>
        <p:nvSpPr>
          <p:cNvPr id="22" name="Text 20"/>
          <p:cNvSpPr txBox="1"/>
          <p:nvPr/>
        </p:nvSpPr>
        <p:spPr>
          <a:xfrm>
            <a:off x="6629400" y="1719072"/>
            <a:ext cx="1554480" cy="310896"/>
          </a:xfrm>
          <a:prstGeom prst="rect">
            <a:avLst/>
          </a:prstGeom>
          <a:noFill/>
          <a:ln/>
        </p:spPr>
        <p:txBody>
          <a:bodyPr wrap="square" lIns="0" tIns="0" rIns="0" bIns="0" rtlCol="0" anchor="t"/>
          <a:lstStyle/>
          <a:p>
            <a:pPr indent="0" marL="0">
              <a:buNone/>
            </a:pPr>
            <a:r>
              <a:rPr lang="en-US" sz="1500" b="1" dirty="0">
                <a:solidFill>
                  <a:srgbClr val="6AAA64"/>
                </a:solidFill>
                <a:latin typeface="Arial" pitchFamily="34" charset="0"/>
                <a:ea typeface="Arial" pitchFamily="34" charset="-122"/>
                <a:cs typeface="Arial" pitchFamily="34" charset="-120"/>
              </a:rPr>
              <a:t>Agent</a:t>
            </a:r>
            <a:endParaRPr lang="en-US" sz="1500" dirty="0"/>
          </a:p>
        </p:txBody>
      </p:sp>
      <p:sp>
        <p:nvSpPr>
          <p:cNvPr id="23" name="Text 21"/>
          <p:cNvSpPr txBox="1"/>
          <p:nvPr/>
        </p:nvSpPr>
        <p:spPr>
          <a:xfrm>
            <a:off x="8183880" y="1719072"/>
            <a:ext cx="3383280" cy="310896"/>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DQN with embedding scorer</a:t>
            </a:r>
            <a:endParaRPr lang="en-US" sz="1400" dirty="0"/>
          </a:p>
        </p:txBody>
      </p:sp>
      <p:sp>
        <p:nvSpPr>
          <p:cNvPr id="24" name="Shape 22"/>
          <p:cNvSpPr/>
          <p:nvPr/>
        </p:nvSpPr>
        <p:spPr>
          <a:xfrm>
            <a:off x="6400800" y="2304288"/>
            <a:ext cx="5239512" cy="621792"/>
          </a:xfrm>
          <a:prstGeom prst="roundRect">
            <a:avLst>
              <a:gd name="adj" fmla="val 11765"/>
            </a:avLst>
          </a:prstGeom>
          <a:solidFill>
            <a:srgbClr val="F3F4F5"/>
          </a:solidFill>
          <a:ln w="12700">
            <a:solidFill>
              <a:srgbClr val="F3F4F5"/>
            </a:solidFill>
            <a:prstDash val="solid"/>
          </a:ln>
        </p:spPr>
      </p:sp>
      <p:sp>
        <p:nvSpPr>
          <p:cNvPr id="25" name="Text 23"/>
          <p:cNvSpPr txBox="1"/>
          <p:nvPr/>
        </p:nvSpPr>
        <p:spPr>
          <a:xfrm>
            <a:off x="6629400" y="2468880"/>
            <a:ext cx="1554480" cy="310896"/>
          </a:xfrm>
          <a:prstGeom prst="rect">
            <a:avLst/>
          </a:prstGeom>
          <a:noFill/>
          <a:ln/>
        </p:spPr>
        <p:txBody>
          <a:bodyPr wrap="square" lIns="0" tIns="0" rIns="0" bIns="0" rtlCol="0" anchor="t"/>
          <a:lstStyle/>
          <a:p>
            <a:pPr indent="0" marL="0">
              <a:buNone/>
            </a:pPr>
            <a:r>
              <a:rPr lang="en-US" sz="1500" b="1" dirty="0">
                <a:solidFill>
                  <a:srgbClr val="6AAA64"/>
                </a:solidFill>
                <a:latin typeface="Arial" pitchFamily="34" charset="0"/>
                <a:ea typeface="Arial" pitchFamily="34" charset="-122"/>
                <a:cs typeface="Arial" pitchFamily="34" charset="-120"/>
              </a:rPr>
              <a:t>Environment</a:t>
            </a:r>
            <a:endParaRPr lang="en-US" sz="1500" dirty="0"/>
          </a:p>
        </p:txBody>
      </p:sp>
      <p:sp>
        <p:nvSpPr>
          <p:cNvPr id="26" name="Text 24"/>
          <p:cNvSpPr txBox="1"/>
          <p:nvPr/>
        </p:nvSpPr>
        <p:spPr>
          <a:xfrm>
            <a:off x="8183880" y="2468880"/>
            <a:ext cx="3383280" cy="310896"/>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Wordle simulator, holds the secret</a:t>
            </a:r>
            <a:endParaRPr lang="en-US" sz="1400" dirty="0"/>
          </a:p>
        </p:txBody>
      </p:sp>
      <p:sp>
        <p:nvSpPr>
          <p:cNvPr id="27" name="Shape 25"/>
          <p:cNvSpPr/>
          <p:nvPr/>
        </p:nvSpPr>
        <p:spPr>
          <a:xfrm>
            <a:off x="6400800" y="3054096"/>
            <a:ext cx="5239512" cy="621792"/>
          </a:xfrm>
          <a:prstGeom prst="roundRect">
            <a:avLst>
              <a:gd name="adj" fmla="val 11765"/>
            </a:avLst>
          </a:prstGeom>
          <a:solidFill>
            <a:srgbClr val="F3F4F5"/>
          </a:solidFill>
          <a:ln w="12700">
            <a:solidFill>
              <a:srgbClr val="F3F4F5"/>
            </a:solidFill>
            <a:prstDash val="solid"/>
          </a:ln>
        </p:spPr>
      </p:sp>
      <p:sp>
        <p:nvSpPr>
          <p:cNvPr id="28" name="Text 26"/>
          <p:cNvSpPr txBox="1"/>
          <p:nvPr/>
        </p:nvSpPr>
        <p:spPr>
          <a:xfrm>
            <a:off x="6629400" y="3218688"/>
            <a:ext cx="1554480" cy="310896"/>
          </a:xfrm>
          <a:prstGeom prst="rect">
            <a:avLst/>
          </a:prstGeom>
          <a:noFill/>
          <a:ln/>
        </p:spPr>
        <p:txBody>
          <a:bodyPr wrap="square" lIns="0" tIns="0" rIns="0" bIns="0" rtlCol="0" anchor="t"/>
          <a:lstStyle/>
          <a:p>
            <a:pPr indent="0" marL="0">
              <a:buNone/>
            </a:pPr>
            <a:r>
              <a:rPr lang="en-US" sz="1500" b="1" dirty="0">
                <a:solidFill>
                  <a:srgbClr val="6AAA64"/>
                </a:solidFill>
                <a:latin typeface="Arial" pitchFamily="34" charset="0"/>
                <a:ea typeface="Arial" pitchFamily="34" charset="-122"/>
                <a:cs typeface="Arial" pitchFamily="34" charset="-120"/>
              </a:rPr>
              <a:t>State</a:t>
            </a:r>
            <a:endParaRPr lang="en-US" sz="1500" dirty="0"/>
          </a:p>
        </p:txBody>
      </p:sp>
      <p:sp>
        <p:nvSpPr>
          <p:cNvPr id="29" name="Text 27"/>
          <p:cNvSpPr txBox="1"/>
          <p:nvPr/>
        </p:nvSpPr>
        <p:spPr>
          <a:xfrm>
            <a:off x="8183880" y="3218688"/>
            <a:ext cx="3383280" cy="310896"/>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183-dim constraint vector</a:t>
            </a:r>
            <a:endParaRPr lang="en-US" sz="1400" dirty="0"/>
          </a:p>
        </p:txBody>
      </p:sp>
      <p:sp>
        <p:nvSpPr>
          <p:cNvPr id="30" name="Shape 28"/>
          <p:cNvSpPr/>
          <p:nvPr/>
        </p:nvSpPr>
        <p:spPr>
          <a:xfrm>
            <a:off x="6400800" y="3803904"/>
            <a:ext cx="5239512" cy="621792"/>
          </a:xfrm>
          <a:prstGeom prst="roundRect">
            <a:avLst>
              <a:gd name="adj" fmla="val 11765"/>
            </a:avLst>
          </a:prstGeom>
          <a:solidFill>
            <a:srgbClr val="F3F4F5"/>
          </a:solidFill>
          <a:ln w="12700">
            <a:solidFill>
              <a:srgbClr val="F3F4F5"/>
            </a:solidFill>
            <a:prstDash val="solid"/>
          </a:ln>
        </p:spPr>
      </p:sp>
      <p:sp>
        <p:nvSpPr>
          <p:cNvPr id="31" name="Text 29"/>
          <p:cNvSpPr txBox="1"/>
          <p:nvPr/>
        </p:nvSpPr>
        <p:spPr>
          <a:xfrm>
            <a:off x="6629400" y="3968496"/>
            <a:ext cx="1554480" cy="310896"/>
          </a:xfrm>
          <a:prstGeom prst="rect">
            <a:avLst/>
          </a:prstGeom>
          <a:noFill/>
          <a:ln/>
        </p:spPr>
        <p:txBody>
          <a:bodyPr wrap="square" lIns="0" tIns="0" rIns="0" bIns="0" rtlCol="0" anchor="t"/>
          <a:lstStyle/>
          <a:p>
            <a:pPr indent="0" marL="0">
              <a:buNone/>
            </a:pPr>
            <a:r>
              <a:rPr lang="en-US" sz="1500" b="1" dirty="0">
                <a:solidFill>
                  <a:srgbClr val="6AAA64"/>
                </a:solidFill>
                <a:latin typeface="Arial" pitchFamily="34" charset="0"/>
                <a:ea typeface="Arial" pitchFamily="34" charset="-122"/>
                <a:cs typeface="Arial" pitchFamily="34" charset="-120"/>
              </a:rPr>
              <a:t>Action</a:t>
            </a:r>
            <a:endParaRPr lang="en-US" sz="1500" dirty="0"/>
          </a:p>
        </p:txBody>
      </p:sp>
      <p:sp>
        <p:nvSpPr>
          <p:cNvPr id="32" name="Text 30"/>
          <p:cNvSpPr txBox="1"/>
          <p:nvPr/>
        </p:nvSpPr>
        <p:spPr>
          <a:xfrm>
            <a:off x="8183880" y="3968496"/>
            <a:ext cx="3383280" cy="310896"/>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one word from the pool</a:t>
            </a:r>
            <a:endParaRPr lang="en-US" sz="1400" dirty="0"/>
          </a:p>
        </p:txBody>
      </p:sp>
      <p:sp>
        <p:nvSpPr>
          <p:cNvPr id="33" name="Shape 31"/>
          <p:cNvSpPr/>
          <p:nvPr/>
        </p:nvSpPr>
        <p:spPr>
          <a:xfrm>
            <a:off x="6400800" y="4553712"/>
            <a:ext cx="5239512" cy="621792"/>
          </a:xfrm>
          <a:prstGeom prst="roundRect">
            <a:avLst>
              <a:gd name="adj" fmla="val 11765"/>
            </a:avLst>
          </a:prstGeom>
          <a:solidFill>
            <a:srgbClr val="F3F4F5"/>
          </a:solidFill>
          <a:ln w="12700">
            <a:solidFill>
              <a:srgbClr val="F3F4F5"/>
            </a:solidFill>
            <a:prstDash val="solid"/>
          </a:ln>
        </p:spPr>
      </p:sp>
      <p:sp>
        <p:nvSpPr>
          <p:cNvPr id="34" name="Text 32"/>
          <p:cNvSpPr txBox="1"/>
          <p:nvPr/>
        </p:nvSpPr>
        <p:spPr>
          <a:xfrm>
            <a:off x="6629400" y="4718304"/>
            <a:ext cx="1554480" cy="310896"/>
          </a:xfrm>
          <a:prstGeom prst="rect">
            <a:avLst/>
          </a:prstGeom>
          <a:noFill/>
          <a:ln/>
        </p:spPr>
        <p:txBody>
          <a:bodyPr wrap="square" lIns="0" tIns="0" rIns="0" bIns="0" rtlCol="0" anchor="t"/>
          <a:lstStyle/>
          <a:p>
            <a:pPr indent="0" marL="0">
              <a:buNone/>
            </a:pPr>
            <a:r>
              <a:rPr lang="en-US" sz="1500" b="1" dirty="0">
                <a:solidFill>
                  <a:srgbClr val="6AAA64"/>
                </a:solidFill>
                <a:latin typeface="Arial" pitchFamily="34" charset="0"/>
                <a:ea typeface="Arial" pitchFamily="34" charset="-122"/>
                <a:cs typeface="Arial" pitchFamily="34" charset="-120"/>
              </a:rPr>
              <a:t>Reward</a:t>
            </a:r>
            <a:endParaRPr lang="en-US" sz="1500" dirty="0"/>
          </a:p>
        </p:txBody>
      </p:sp>
      <p:sp>
        <p:nvSpPr>
          <p:cNvPr id="35" name="Text 33"/>
          <p:cNvSpPr txBox="1"/>
          <p:nvPr/>
        </p:nvSpPr>
        <p:spPr>
          <a:xfrm>
            <a:off x="8183880" y="4718304"/>
            <a:ext cx="3383280" cy="310896"/>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step cost + info gain + win bonus</a:t>
            </a:r>
            <a:endParaRPr lang="en-US" sz="1400" dirty="0"/>
          </a:p>
        </p:txBody>
      </p:sp>
      <p:sp>
        <p:nvSpPr>
          <p:cNvPr id="36" name="Shape 34"/>
          <p:cNvSpPr/>
          <p:nvPr/>
        </p:nvSpPr>
        <p:spPr>
          <a:xfrm>
            <a:off x="6400800" y="5303520"/>
            <a:ext cx="5239512" cy="621792"/>
          </a:xfrm>
          <a:prstGeom prst="roundRect">
            <a:avLst>
              <a:gd name="adj" fmla="val 11765"/>
            </a:avLst>
          </a:prstGeom>
          <a:solidFill>
            <a:srgbClr val="F3F4F5"/>
          </a:solidFill>
          <a:ln w="12700">
            <a:solidFill>
              <a:srgbClr val="F3F4F5"/>
            </a:solidFill>
            <a:prstDash val="solid"/>
          </a:ln>
        </p:spPr>
      </p:sp>
      <p:sp>
        <p:nvSpPr>
          <p:cNvPr id="37" name="Text 35"/>
          <p:cNvSpPr txBox="1"/>
          <p:nvPr/>
        </p:nvSpPr>
        <p:spPr>
          <a:xfrm>
            <a:off x="6629400" y="5468112"/>
            <a:ext cx="1554480" cy="310896"/>
          </a:xfrm>
          <a:prstGeom prst="rect">
            <a:avLst/>
          </a:prstGeom>
          <a:noFill/>
          <a:ln/>
        </p:spPr>
        <p:txBody>
          <a:bodyPr wrap="square" lIns="0" tIns="0" rIns="0" bIns="0" rtlCol="0" anchor="t"/>
          <a:lstStyle/>
          <a:p>
            <a:pPr indent="0" marL="0">
              <a:buNone/>
            </a:pPr>
            <a:r>
              <a:rPr lang="en-US" sz="1500" b="1" dirty="0">
                <a:solidFill>
                  <a:srgbClr val="6AAA64"/>
                </a:solidFill>
                <a:latin typeface="Arial" pitchFamily="34" charset="0"/>
                <a:ea typeface="Arial" pitchFamily="34" charset="-122"/>
                <a:cs typeface="Arial" pitchFamily="34" charset="-120"/>
              </a:rPr>
              <a:t>Policy</a:t>
            </a:r>
            <a:endParaRPr lang="en-US" sz="1500" dirty="0"/>
          </a:p>
        </p:txBody>
      </p:sp>
      <p:sp>
        <p:nvSpPr>
          <p:cNvPr id="38" name="Text 36"/>
          <p:cNvSpPr txBox="1"/>
          <p:nvPr/>
        </p:nvSpPr>
        <p:spPr>
          <a:xfrm>
            <a:off x="8183880" y="5468112"/>
            <a:ext cx="3383280" cy="310896"/>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ε-greedy over masked words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MULTI-ARMED BANDIT</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Exploration vs exploitation: choosing the first word</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6</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graphicFrame>
        <p:nvGraphicFramePr>
          <p:cNvPr id="9" name="Chart 0" descr=""/>
          <p:cNvGraphicFramePr/>
          <p:nvPr/>
        </p:nvGraphicFramePr>
        <p:xfrm>
          <a:off x="548640" y="1417320"/>
          <a:ext cx="6035040" cy="452628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949440" y="1554480"/>
            <a:ext cx="4690872" cy="1371600"/>
          </a:xfrm>
          <a:prstGeom prst="roundRect">
            <a:avLst>
              <a:gd name="adj" fmla="val 5333"/>
            </a:avLst>
          </a:prstGeom>
          <a:solidFill>
            <a:srgbClr val="F3F4F5"/>
          </a:solidFill>
          <a:ln w="12700">
            <a:solidFill>
              <a:srgbClr val="F3F4F5"/>
            </a:solidFill>
            <a:prstDash val="solid"/>
          </a:ln>
        </p:spPr>
      </p:sp>
      <p:sp>
        <p:nvSpPr>
          <p:cNvPr id="11" name="Text 8"/>
          <p:cNvSpPr txBox="1"/>
          <p:nvPr/>
        </p:nvSpPr>
        <p:spPr>
          <a:xfrm>
            <a:off x="7223760" y="1691640"/>
            <a:ext cx="4206240" cy="731520"/>
          </a:xfrm>
          <a:prstGeom prst="rect">
            <a:avLst/>
          </a:prstGeom>
          <a:noFill/>
          <a:ln/>
        </p:spPr>
        <p:txBody>
          <a:bodyPr wrap="square" lIns="0" tIns="0" rIns="0" bIns="0" rtlCol="0" anchor="t"/>
          <a:lstStyle/>
          <a:p>
            <a:pPr indent="0" marL="0">
              <a:buNone/>
            </a:pPr>
            <a:r>
              <a:rPr lang="en-US" sz="4400" b="1" dirty="0">
                <a:solidFill>
                  <a:srgbClr val="787C7E"/>
                </a:solidFill>
                <a:latin typeface="Arial" pitchFamily="34" charset="0"/>
                <a:ea typeface="Arial" pitchFamily="34" charset="-122"/>
                <a:cs typeface="Arial" pitchFamily="34" charset="-120"/>
              </a:rPr>
              <a:t>0 / 30</a:t>
            </a:r>
            <a:endParaRPr lang="en-US" sz="4400" dirty="0"/>
          </a:p>
        </p:txBody>
      </p:sp>
      <p:sp>
        <p:nvSpPr>
          <p:cNvPr id="12" name="Text 9"/>
          <p:cNvSpPr txBox="1"/>
          <p:nvPr/>
        </p:nvSpPr>
        <p:spPr>
          <a:xfrm>
            <a:off x="7223760" y="2423160"/>
            <a:ext cx="4206240" cy="41148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runs where pure greedy found the best word</a:t>
            </a:r>
            <a:endParaRPr lang="en-US" sz="1400" dirty="0"/>
          </a:p>
        </p:txBody>
      </p:sp>
      <p:sp>
        <p:nvSpPr>
          <p:cNvPr id="13" name="Shape 10"/>
          <p:cNvSpPr/>
          <p:nvPr/>
        </p:nvSpPr>
        <p:spPr>
          <a:xfrm>
            <a:off x="6949440" y="3154680"/>
            <a:ext cx="4690872" cy="1371600"/>
          </a:xfrm>
          <a:prstGeom prst="roundRect">
            <a:avLst>
              <a:gd name="adj" fmla="val 5333"/>
            </a:avLst>
          </a:prstGeom>
          <a:solidFill>
            <a:srgbClr val="F3F4F5"/>
          </a:solidFill>
          <a:ln w="12700">
            <a:solidFill>
              <a:srgbClr val="F3F4F5"/>
            </a:solidFill>
            <a:prstDash val="solid"/>
          </a:ln>
        </p:spPr>
      </p:sp>
      <p:sp>
        <p:nvSpPr>
          <p:cNvPr id="14" name="Text 11"/>
          <p:cNvSpPr txBox="1"/>
          <p:nvPr/>
        </p:nvSpPr>
        <p:spPr>
          <a:xfrm>
            <a:off x="7223760" y="3291840"/>
            <a:ext cx="4206240" cy="731520"/>
          </a:xfrm>
          <a:prstGeom prst="rect">
            <a:avLst/>
          </a:prstGeom>
          <a:noFill/>
          <a:ln/>
        </p:spPr>
        <p:txBody>
          <a:bodyPr wrap="square" lIns="0" tIns="0" rIns="0" bIns="0" rtlCol="0" anchor="t"/>
          <a:lstStyle/>
          <a:p>
            <a:pPr indent="0" marL="0">
              <a:buNone/>
            </a:pPr>
            <a:r>
              <a:rPr lang="en-US" sz="4400" b="1" dirty="0">
                <a:solidFill>
                  <a:srgbClr val="6AAA64"/>
                </a:solidFill>
                <a:latin typeface="Arial" pitchFamily="34" charset="0"/>
                <a:ea typeface="Arial" pitchFamily="34" charset="-122"/>
                <a:cs typeface="Arial" pitchFamily="34" charset="-120"/>
              </a:rPr>
              <a:t>38.7%</a:t>
            </a:r>
            <a:endParaRPr lang="en-US" sz="4400" dirty="0"/>
          </a:p>
        </p:txBody>
      </p:sp>
      <p:sp>
        <p:nvSpPr>
          <p:cNvPr id="15" name="Text 12"/>
          <p:cNvSpPr txBox="1"/>
          <p:nvPr/>
        </p:nvSpPr>
        <p:spPr>
          <a:xfrm>
            <a:off x="7223760" y="4023360"/>
            <a:ext cx="4206240" cy="41148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optimal picks with ε-greedy (ε = 0.10)</a:t>
            </a:r>
            <a:endParaRPr lang="en-US" sz="1400" dirty="0"/>
          </a:p>
        </p:txBody>
      </p:sp>
      <p:sp>
        <p:nvSpPr>
          <p:cNvPr id="16" name="Shape 13"/>
          <p:cNvSpPr/>
          <p:nvPr/>
        </p:nvSpPr>
        <p:spPr>
          <a:xfrm>
            <a:off x="6949440" y="4754880"/>
            <a:ext cx="4690872" cy="1188720"/>
          </a:xfrm>
          <a:prstGeom prst="roundRect">
            <a:avLst>
              <a:gd name="adj" fmla="val 6154"/>
            </a:avLst>
          </a:prstGeom>
          <a:solidFill>
            <a:srgbClr val="FBF6E6"/>
          </a:solidFill>
          <a:ln w="12700">
            <a:solidFill>
              <a:srgbClr val="FBF6E6"/>
            </a:solidFill>
            <a:prstDash val="solid"/>
          </a:ln>
        </p:spPr>
      </p:sp>
      <p:sp>
        <p:nvSpPr>
          <p:cNvPr id="17" name="Text 14"/>
          <p:cNvSpPr txBox="1"/>
          <p:nvPr/>
        </p:nvSpPr>
        <p:spPr>
          <a:xfrm>
            <a:off x="7223760" y="4864608"/>
            <a:ext cx="4206240" cy="1005840"/>
          </a:xfrm>
          <a:prstGeom prst="rect">
            <a:avLst/>
          </a:prstGeom>
          <a:noFill/>
          <a:ln/>
        </p:spPr>
        <p:txBody>
          <a:bodyPr wrap="square" lIns="0" tIns="0" rIns="0" bIns="0" rtlCol="0" anchor="ctr"/>
          <a:lstStyle/>
          <a:p>
            <a:pPr indent="0" marL="0">
              <a:buNone/>
            </a:pPr>
            <a:r>
              <a:rPr lang="en-US" sz="1350" dirty="0">
                <a:solidFill>
                  <a:srgbClr val="1A1A1B"/>
                </a:solidFill>
                <a:latin typeface="Arial" pitchFamily="34" charset="0"/>
                <a:ea typeface="Arial" pitchFamily="34" charset="-122"/>
                <a:cs typeface="Arial" pitchFamily="34" charset="-120"/>
              </a:rPr>
              <a:t>Greedy locked onto RAISE every time, the same word our system had cached. Exhaustive search ranks RAISE 32nd.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MARKOV DECISION PROCESS</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The formal model: (S, A, P, R, γ)</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7</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sp>
        <p:nvSpPr>
          <p:cNvPr id="9" name="Shape 7"/>
          <p:cNvSpPr/>
          <p:nvPr/>
        </p:nvSpPr>
        <p:spPr>
          <a:xfrm>
            <a:off x="548640" y="1508760"/>
            <a:ext cx="2880360" cy="2057400"/>
          </a:xfrm>
          <a:prstGeom prst="roundRect">
            <a:avLst>
              <a:gd name="adj" fmla="val 3556"/>
            </a:avLst>
          </a:prstGeom>
          <a:solidFill>
            <a:srgbClr val="F3F4F5"/>
          </a:solidFill>
          <a:ln w="12700">
            <a:solidFill>
              <a:srgbClr val="F3F4F5"/>
            </a:solidFill>
            <a:prstDash val="solid"/>
          </a:ln>
        </p:spPr>
      </p:sp>
      <p:sp>
        <p:nvSpPr>
          <p:cNvPr id="10" name="Text 8"/>
          <p:cNvSpPr txBox="1"/>
          <p:nvPr/>
        </p:nvSpPr>
        <p:spPr>
          <a:xfrm>
            <a:off x="777240" y="1737360"/>
            <a:ext cx="548640" cy="548640"/>
          </a:xfrm>
          <a:prstGeom prst="roundRect">
            <a:avLst>
              <a:gd name="adj" fmla="val 10000"/>
            </a:avLst>
          </a:prstGeom>
          <a:solidFill>
            <a:srgbClr val="6AAA64"/>
          </a:solidFill>
          <a:ln>
            <a:solidFill>
              <a:srgbClr val="6AAA64"/>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S</a:t>
            </a:r>
            <a:endParaRPr lang="en-US" sz="2200" dirty="0"/>
          </a:p>
        </p:txBody>
      </p:sp>
      <p:sp>
        <p:nvSpPr>
          <p:cNvPr id="11" name="Text 9"/>
          <p:cNvSpPr txBox="1"/>
          <p:nvPr/>
        </p:nvSpPr>
        <p:spPr>
          <a:xfrm>
            <a:off x="1508760" y="1828800"/>
            <a:ext cx="173736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States</a:t>
            </a:r>
            <a:endParaRPr lang="en-US" sz="1700" dirty="0"/>
          </a:p>
        </p:txBody>
      </p:sp>
      <p:sp>
        <p:nvSpPr>
          <p:cNvPr id="12" name="Text 10"/>
          <p:cNvSpPr txBox="1"/>
          <p:nvPr/>
        </p:nvSpPr>
        <p:spPr>
          <a:xfrm>
            <a:off x="777240" y="2423160"/>
            <a:ext cx="2468880" cy="105156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183-dim vector of green, yellow and gray constraints plus guesses left</a:t>
            </a:r>
            <a:endParaRPr lang="en-US" sz="1350" dirty="0"/>
          </a:p>
        </p:txBody>
      </p:sp>
      <p:sp>
        <p:nvSpPr>
          <p:cNvPr id="13" name="Shape 11"/>
          <p:cNvSpPr/>
          <p:nvPr/>
        </p:nvSpPr>
        <p:spPr>
          <a:xfrm>
            <a:off x="3611880" y="1508760"/>
            <a:ext cx="2880360" cy="2057400"/>
          </a:xfrm>
          <a:prstGeom prst="roundRect">
            <a:avLst>
              <a:gd name="adj" fmla="val 3556"/>
            </a:avLst>
          </a:prstGeom>
          <a:solidFill>
            <a:srgbClr val="F3F4F5"/>
          </a:solidFill>
          <a:ln w="12700">
            <a:solidFill>
              <a:srgbClr val="F3F4F5"/>
            </a:solidFill>
            <a:prstDash val="solid"/>
          </a:ln>
        </p:spPr>
      </p:sp>
      <p:sp>
        <p:nvSpPr>
          <p:cNvPr id="14" name="Text 12"/>
          <p:cNvSpPr txBox="1"/>
          <p:nvPr/>
        </p:nvSpPr>
        <p:spPr>
          <a:xfrm>
            <a:off x="3840480" y="1737360"/>
            <a:ext cx="548640" cy="548640"/>
          </a:xfrm>
          <a:prstGeom prst="roundRect">
            <a:avLst>
              <a:gd name="adj" fmla="val 10000"/>
            </a:avLst>
          </a:prstGeom>
          <a:solidFill>
            <a:srgbClr val="C9B458"/>
          </a:solidFill>
          <a:ln>
            <a:solidFill>
              <a:srgbClr val="C9B458"/>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a:t>
            </a:r>
            <a:endParaRPr lang="en-US" sz="2200" dirty="0"/>
          </a:p>
        </p:txBody>
      </p:sp>
      <p:sp>
        <p:nvSpPr>
          <p:cNvPr id="15" name="Text 13"/>
          <p:cNvSpPr txBox="1"/>
          <p:nvPr/>
        </p:nvSpPr>
        <p:spPr>
          <a:xfrm>
            <a:off x="4572000" y="1828800"/>
            <a:ext cx="173736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Actions</a:t>
            </a:r>
            <a:endParaRPr lang="en-US" sz="1700" dirty="0"/>
          </a:p>
        </p:txBody>
      </p:sp>
      <p:sp>
        <p:nvSpPr>
          <p:cNvPr id="16" name="Text 14"/>
          <p:cNvSpPr txBox="1"/>
          <p:nvPr/>
        </p:nvSpPr>
        <p:spPr>
          <a:xfrm>
            <a:off x="3840480" y="2423160"/>
            <a:ext cx="2468880" cy="105156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Guess one word from the pool (200, 2,309 or 8,636 words)</a:t>
            </a:r>
            <a:endParaRPr lang="en-US" sz="1350" dirty="0"/>
          </a:p>
        </p:txBody>
      </p:sp>
      <p:sp>
        <p:nvSpPr>
          <p:cNvPr id="17" name="Shape 15"/>
          <p:cNvSpPr/>
          <p:nvPr/>
        </p:nvSpPr>
        <p:spPr>
          <a:xfrm>
            <a:off x="548640" y="3749040"/>
            <a:ext cx="2880360" cy="2057400"/>
          </a:xfrm>
          <a:prstGeom prst="roundRect">
            <a:avLst>
              <a:gd name="adj" fmla="val 3556"/>
            </a:avLst>
          </a:prstGeom>
          <a:solidFill>
            <a:srgbClr val="F3F4F5"/>
          </a:solidFill>
          <a:ln w="12700">
            <a:solidFill>
              <a:srgbClr val="F3F4F5"/>
            </a:solidFill>
            <a:prstDash val="solid"/>
          </a:ln>
        </p:spPr>
      </p:sp>
      <p:sp>
        <p:nvSpPr>
          <p:cNvPr id="18" name="Text 16"/>
          <p:cNvSpPr txBox="1"/>
          <p:nvPr/>
        </p:nvSpPr>
        <p:spPr>
          <a:xfrm>
            <a:off x="777240" y="3977640"/>
            <a:ext cx="548640" cy="548640"/>
          </a:xfrm>
          <a:prstGeom prst="roundRect">
            <a:avLst>
              <a:gd name="adj" fmla="val 10000"/>
            </a:avLst>
          </a:prstGeom>
          <a:solidFill>
            <a:srgbClr val="787C7E"/>
          </a:solidFill>
          <a:ln>
            <a:solidFill>
              <a:srgbClr val="787C7E"/>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R</a:t>
            </a:r>
            <a:endParaRPr lang="en-US" sz="2200" dirty="0"/>
          </a:p>
        </p:txBody>
      </p:sp>
      <p:sp>
        <p:nvSpPr>
          <p:cNvPr id="19" name="Text 17"/>
          <p:cNvSpPr txBox="1"/>
          <p:nvPr/>
        </p:nvSpPr>
        <p:spPr>
          <a:xfrm>
            <a:off x="1508760" y="4069080"/>
            <a:ext cx="173736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Rewards</a:t>
            </a:r>
            <a:endParaRPr lang="en-US" sz="1700" dirty="0"/>
          </a:p>
        </p:txBody>
      </p:sp>
      <p:sp>
        <p:nvSpPr>
          <p:cNvPr id="20" name="Text 18"/>
          <p:cNvSpPr txBox="1"/>
          <p:nvPr/>
        </p:nvSpPr>
        <p:spPr>
          <a:xfrm>
            <a:off x="777240" y="4663440"/>
            <a:ext cx="2468880" cy="105156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−1 per guess, +info gain, +win bonus, −5 on failure</a:t>
            </a:r>
            <a:endParaRPr lang="en-US" sz="1350" dirty="0"/>
          </a:p>
        </p:txBody>
      </p:sp>
      <p:sp>
        <p:nvSpPr>
          <p:cNvPr id="21" name="Shape 19"/>
          <p:cNvSpPr/>
          <p:nvPr/>
        </p:nvSpPr>
        <p:spPr>
          <a:xfrm>
            <a:off x="3611880" y="3749040"/>
            <a:ext cx="2880360" cy="2057400"/>
          </a:xfrm>
          <a:prstGeom prst="roundRect">
            <a:avLst>
              <a:gd name="adj" fmla="val 3556"/>
            </a:avLst>
          </a:prstGeom>
          <a:solidFill>
            <a:srgbClr val="F3F4F5"/>
          </a:solidFill>
          <a:ln w="12700">
            <a:solidFill>
              <a:srgbClr val="F3F4F5"/>
            </a:solidFill>
            <a:prstDash val="solid"/>
          </a:ln>
        </p:spPr>
      </p:sp>
      <p:sp>
        <p:nvSpPr>
          <p:cNvPr id="22" name="Text 20"/>
          <p:cNvSpPr txBox="1"/>
          <p:nvPr/>
        </p:nvSpPr>
        <p:spPr>
          <a:xfrm>
            <a:off x="3840480" y="3977640"/>
            <a:ext cx="548640" cy="548640"/>
          </a:xfrm>
          <a:prstGeom prst="roundRect">
            <a:avLst>
              <a:gd name="adj" fmla="val 10000"/>
            </a:avLst>
          </a:prstGeom>
          <a:solidFill>
            <a:srgbClr val="6AAA64"/>
          </a:solidFill>
          <a:ln>
            <a:solidFill>
              <a:srgbClr val="6AAA64"/>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γ</a:t>
            </a:r>
            <a:endParaRPr lang="en-US" sz="2200" dirty="0"/>
          </a:p>
        </p:txBody>
      </p:sp>
      <p:sp>
        <p:nvSpPr>
          <p:cNvPr id="23" name="Text 21"/>
          <p:cNvSpPr txBox="1"/>
          <p:nvPr/>
        </p:nvSpPr>
        <p:spPr>
          <a:xfrm>
            <a:off x="4572000" y="4069080"/>
            <a:ext cx="173736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Discount</a:t>
            </a:r>
            <a:endParaRPr lang="en-US" sz="1700" dirty="0"/>
          </a:p>
        </p:txBody>
      </p:sp>
      <p:sp>
        <p:nvSpPr>
          <p:cNvPr id="24" name="Text 22"/>
          <p:cNvSpPr txBox="1"/>
          <p:nvPr/>
        </p:nvSpPr>
        <p:spPr>
          <a:xfrm>
            <a:off x="3840480" y="4663440"/>
            <a:ext cx="2468880" cy="105156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0.99, so a guess on turn 2 gets credit for a win on turn 5</a:t>
            </a:r>
            <a:endParaRPr lang="en-US" sz="1350" dirty="0"/>
          </a:p>
        </p:txBody>
      </p:sp>
      <p:sp>
        <p:nvSpPr>
          <p:cNvPr id="25" name="Shape 23"/>
          <p:cNvSpPr/>
          <p:nvPr/>
        </p:nvSpPr>
        <p:spPr>
          <a:xfrm>
            <a:off x="6812280" y="1508760"/>
            <a:ext cx="4828032" cy="4297680"/>
          </a:xfrm>
          <a:prstGeom prst="roundRect">
            <a:avLst>
              <a:gd name="adj" fmla="val 1702"/>
            </a:avLst>
          </a:prstGeom>
          <a:solidFill>
            <a:srgbClr val="EAF3E9"/>
          </a:solidFill>
          <a:ln w="12700">
            <a:solidFill>
              <a:srgbClr val="EAF3E9"/>
            </a:solidFill>
            <a:prstDash val="solid"/>
          </a:ln>
        </p:spPr>
      </p:sp>
      <p:sp>
        <p:nvSpPr>
          <p:cNvPr id="26" name="Text 24"/>
          <p:cNvSpPr txBox="1"/>
          <p:nvPr/>
        </p:nvSpPr>
        <p:spPr>
          <a:xfrm>
            <a:off x="7040880" y="1737360"/>
            <a:ext cx="548640" cy="548640"/>
          </a:xfrm>
          <a:prstGeom prst="roundRect">
            <a:avLst>
              <a:gd name="adj" fmla="val 10000"/>
            </a:avLst>
          </a:prstGeom>
          <a:solidFill>
            <a:srgbClr val="6AAA64"/>
          </a:solidFill>
          <a:ln>
            <a:solidFill>
              <a:srgbClr val="6AAA64"/>
            </a:solid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P</a:t>
            </a:r>
            <a:endParaRPr lang="en-US" sz="2200" dirty="0"/>
          </a:p>
        </p:txBody>
      </p:sp>
      <p:sp>
        <p:nvSpPr>
          <p:cNvPr id="27" name="Text 25"/>
          <p:cNvSpPr txBox="1"/>
          <p:nvPr/>
        </p:nvSpPr>
        <p:spPr>
          <a:xfrm>
            <a:off x="7772400" y="1828800"/>
            <a:ext cx="365760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Transitions</a:t>
            </a:r>
            <a:endParaRPr lang="en-US" sz="1700" dirty="0"/>
          </a:p>
        </p:txBody>
      </p:sp>
      <p:sp>
        <p:nvSpPr>
          <p:cNvPr id="28" name="Text 26"/>
          <p:cNvSpPr txBox="1"/>
          <p:nvPr/>
        </p:nvSpPr>
        <p:spPr>
          <a:xfrm>
            <a:off x="7040880" y="2514600"/>
            <a:ext cx="4389120" cy="731520"/>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Deterministic if you know the secret word: feedback is a fixed function of the guess.</a:t>
            </a:r>
            <a:endParaRPr lang="en-US" sz="1400" dirty="0"/>
          </a:p>
        </p:txBody>
      </p:sp>
      <p:sp>
        <p:nvSpPr>
          <p:cNvPr id="29" name="Text 27"/>
          <p:cNvSpPr txBox="1"/>
          <p:nvPr/>
        </p:nvSpPr>
        <p:spPr>
          <a:xfrm>
            <a:off x="7040880" y="3291840"/>
            <a:ext cx="4389120" cy="457200"/>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Stochastic from the agent's view, since the secret is unknown:</a:t>
            </a:r>
            <a:endParaRPr lang="en-US" sz="1400" dirty="0"/>
          </a:p>
        </p:txBody>
      </p:sp>
      <p:sp>
        <p:nvSpPr>
          <p:cNvPr id="30" name="Shape 28"/>
          <p:cNvSpPr/>
          <p:nvPr/>
        </p:nvSpPr>
        <p:spPr>
          <a:xfrm>
            <a:off x="7040880" y="3794760"/>
            <a:ext cx="4370832" cy="658368"/>
          </a:xfrm>
          <a:prstGeom prst="roundRect">
            <a:avLst>
              <a:gd name="adj" fmla="val 11111"/>
            </a:avLst>
          </a:prstGeom>
          <a:solidFill>
            <a:srgbClr val="FFFFFF"/>
          </a:solidFill>
          <a:ln w="12700">
            <a:solidFill>
              <a:srgbClr val="FFFFFF"/>
            </a:solidFill>
            <a:prstDash val="solid"/>
          </a:ln>
        </p:spPr>
      </p:sp>
      <p:sp>
        <p:nvSpPr>
          <p:cNvPr id="31" name="Text 29"/>
          <p:cNvSpPr txBox="1"/>
          <p:nvPr/>
        </p:nvSpPr>
        <p:spPr>
          <a:xfrm>
            <a:off x="7178040" y="3794760"/>
            <a:ext cx="4114800" cy="658368"/>
          </a:xfrm>
          <a:prstGeom prst="rect">
            <a:avLst/>
          </a:prstGeom>
          <a:noFill/>
          <a:ln/>
        </p:spPr>
        <p:txBody>
          <a:bodyPr wrap="square" lIns="0" tIns="0" rIns="0" bIns="0" rtlCol="0" anchor="ctr"/>
          <a:lstStyle/>
          <a:p>
            <a:pPr algn="ctr" indent="0" marL="0">
              <a:buNone/>
            </a:pPr>
            <a:r>
              <a:rPr lang="en-US" sz="1400" b="1" dirty="0">
                <a:solidFill>
                  <a:srgbClr val="1A1A1B"/>
                </a:solidFill>
                <a:latin typeface="Arial" pitchFamily="34" charset="0"/>
                <a:ea typeface="Arial" pitchFamily="34" charset="-122"/>
                <a:cs typeface="Arial" pitchFamily="34" charset="-120"/>
              </a:rPr>
              <a:t>P(q | a) = matching words / remaining words</a:t>
            </a:r>
            <a:endParaRPr lang="en-US" sz="1400" dirty="0"/>
          </a:p>
        </p:txBody>
      </p:sp>
      <p:sp>
        <p:nvSpPr>
          <p:cNvPr id="32" name="Text 30"/>
          <p:cNvSpPr txBox="1"/>
          <p:nvPr/>
        </p:nvSpPr>
        <p:spPr>
          <a:xfrm>
            <a:off x="7040880" y="4617720"/>
            <a:ext cx="4389120" cy="82296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This is exactly what the entropy heuristic maximizes over, which links our two approaches.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STATE AND REWARD DESIGN</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What the agent sees, and how it is scored</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8</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sp>
        <p:nvSpPr>
          <p:cNvPr id="9" name="Text 7"/>
          <p:cNvSpPr txBox="1"/>
          <p:nvPr/>
        </p:nvSpPr>
        <p:spPr>
          <a:xfrm>
            <a:off x="548640" y="1463040"/>
            <a:ext cx="4572000" cy="274320"/>
          </a:xfrm>
          <a:prstGeom prst="rect">
            <a:avLst/>
          </a:prstGeom>
          <a:noFill/>
          <a:ln/>
        </p:spPr>
        <p:txBody>
          <a:bodyPr wrap="square" lIns="0" tIns="0" rIns="0" bIns="0" rtlCol="0" anchor="t"/>
          <a:lstStyle/>
          <a:p>
            <a:pPr indent="0" marL="0">
              <a:buNone/>
            </a:pPr>
            <a:r>
              <a:rPr lang="en-US" sz="1100" b="1" spc="200" kern="0" dirty="0">
                <a:solidFill>
                  <a:srgbClr val="5F6368"/>
                </a:solidFill>
                <a:latin typeface="Arial" pitchFamily="34" charset="0"/>
                <a:ea typeface="Arial" pitchFamily="34" charset="-122"/>
                <a:cs typeface="Arial" pitchFamily="34" charset="-120"/>
              </a:rPr>
              <a:t>STATE: 183 NUMBERS</a:t>
            </a:r>
            <a:endParaRPr lang="en-US" sz="1100" dirty="0"/>
          </a:p>
        </p:txBody>
      </p:sp>
      <p:sp>
        <p:nvSpPr>
          <p:cNvPr id="10" name="Text 8"/>
          <p:cNvSpPr txBox="1"/>
          <p:nvPr/>
        </p:nvSpPr>
        <p:spPr>
          <a:xfrm>
            <a:off x="548640" y="1828800"/>
            <a:ext cx="3200400" cy="868680"/>
          </a:xfrm>
          <a:prstGeom prst="rect">
            <a:avLst/>
          </a:prstGeom>
          <a:solidFill>
            <a:srgbClr val="6AAA64"/>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Green</a:t>
            </a:r>
            <a:endParaRPr lang="en-US" sz="1400" dirty="0"/>
          </a:p>
          <a:p>
            <a:pPr algn="ctr" indent="0" marL="0">
              <a:buNone/>
            </a:pPr>
            <a:r>
              <a:rPr lang="en-US" sz="1400" dirty="0">
                <a:solidFill>
                  <a:srgbClr val="FFFFFF"/>
                </a:solidFill>
                <a:latin typeface="Arial" pitchFamily="34" charset="0"/>
                <a:ea typeface="Arial" pitchFamily="34" charset="-122"/>
                <a:cs typeface="Arial" pitchFamily="34" charset="-120"/>
              </a:rPr>
              <a:t>5 × 26 = 130</a:t>
            </a:r>
            <a:endParaRPr lang="en-US" sz="1400" dirty="0"/>
          </a:p>
        </p:txBody>
      </p:sp>
      <p:sp>
        <p:nvSpPr>
          <p:cNvPr id="11" name="Text 9"/>
          <p:cNvSpPr txBox="1"/>
          <p:nvPr/>
        </p:nvSpPr>
        <p:spPr>
          <a:xfrm>
            <a:off x="3749040" y="1828800"/>
            <a:ext cx="914400" cy="868680"/>
          </a:xfrm>
          <a:prstGeom prst="rect">
            <a:avLst/>
          </a:prstGeom>
          <a:solidFill>
            <a:srgbClr val="C9B458"/>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Yellow</a:t>
            </a:r>
            <a:endParaRPr lang="en-US" sz="1400" dirty="0"/>
          </a:p>
          <a:p>
            <a:pPr algn="ctr" indent="0" marL="0">
              <a:buNone/>
            </a:pPr>
            <a:r>
              <a:rPr lang="en-US" sz="1400" dirty="0">
                <a:solidFill>
                  <a:srgbClr val="FFFFFF"/>
                </a:solidFill>
                <a:latin typeface="Arial" pitchFamily="34" charset="0"/>
                <a:ea typeface="Arial" pitchFamily="34" charset="-122"/>
                <a:cs typeface="Arial" pitchFamily="34" charset="-120"/>
              </a:rPr>
              <a:t>26</a:t>
            </a:r>
            <a:endParaRPr lang="en-US" sz="1400" dirty="0"/>
          </a:p>
        </p:txBody>
      </p:sp>
      <p:sp>
        <p:nvSpPr>
          <p:cNvPr id="12" name="Text 10"/>
          <p:cNvSpPr txBox="1"/>
          <p:nvPr/>
        </p:nvSpPr>
        <p:spPr>
          <a:xfrm>
            <a:off x="4663440" y="1828800"/>
            <a:ext cx="914400" cy="868680"/>
          </a:xfrm>
          <a:prstGeom prst="rect">
            <a:avLst/>
          </a:prstGeom>
          <a:solidFill>
            <a:srgbClr val="787C7E"/>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Gray</a:t>
            </a:r>
            <a:endParaRPr lang="en-US" sz="1400" dirty="0"/>
          </a:p>
          <a:p>
            <a:pPr algn="ctr" indent="0" marL="0">
              <a:buNone/>
            </a:pPr>
            <a:r>
              <a:rPr lang="en-US" sz="1400" dirty="0">
                <a:solidFill>
                  <a:srgbClr val="FFFFFF"/>
                </a:solidFill>
                <a:latin typeface="Arial" pitchFamily="34" charset="0"/>
                <a:ea typeface="Arial" pitchFamily="34" charset="-122"/>
                <a:cs typeface="Arial" pitchFamily="34" charset="-120"/>
              </a:rPr>
              <a:t>26</a:t>
            </a:r>
            <a:endParaRPr lang="en-US" sz="1400" dirty="0"/>
          </a:p>
        </p:txBody>
      </p:sp>
      <p:sp>
        <p:nvSpPr>
          <p:cNvPr id="13" name="Text 11"/>
          <p:cNvSpPr txBox="1"/>
          <p:nvPr/>
        </p:nvSpPr>
        <p:spPr>
          <a:xfrm>
            <a:off x="5577840" y="1828800"/>
            <a:ext cx="731520" cy="868680"/>
          </a:xfrm>
          <a:prstGeom prst="rect">
            <a:avLst/>
          </a:prstGeom>
          <a:solidFill>
            <a:srgbClr val="3B6EA5"/>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Left</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1</a:t>
            </a:r>
            <a:endParaRPr lang="en-US" sz="1200" dirty="0"/>
          </a:p>
        </p:txBody>
      </p:sp>
      <p:sp>
        <p:nvSpPr>
          <p:cNvPr id="14" name="Text 12"/>
          <p:cNvSpPr txBox="1"/>
          <p:nvPr/>
        </p:nvSpPr>
        <p:spPr>
          <a:xfrm>
            <a:off x="548640" y="3008376"/>
            <a:ext cx="256032" cy="256032"/>
          </a:xfrm>
          <a:prstGeom prst="roundRect">
            <a:avLst>
              <a:gd name="adj" fmla="val 21429"/>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15" name="Text 13"/>
          <p:cNvSpPr txBox="1"/>
          <p:nvPr/>
        </p:nvSpPr>
        <p:spPr>
          <a:xfrm>
            <a:off x="960120" y="2971800"/>
            <a:ext cx="5486400" cy="365760"/>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Green:  which letter is confirmed at each position</a:t>
            </a:r>
            <a:endParaRPr lang="en-US" sz="1400" dirty="0"/>
          </a:p>
        </p:txBody>
      </p:sp>
      <p:sp>
        <p:nvSpPr>
          <p:cNvPr id="16" name="Text 14"/>
          <p:cNvSpPr txBox="1"/>
          <p:nvPr/>
        </p:nvSpPr>
        <p:spPr>
          <a:xfrm>
            <a:off x="548640" y="3483864"/>
            <a:ext cx="256032" cy="256032"/>
          </a:xfrm>
          <a:prstGeom prst="roundRect">
            <a:avLst>
              <a:gd name="adj" fmla="val 21429"/>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17" name="Text 15"/>
          <p:cNvSpPr txBox="1"/>
          <p:nvPr/>
        </p:nvSpPr>
        <p:spPr>
          <a:xfrm>
            <a:off x="960120" y="3447288"/>
            <a:ext cx="5486400" cy="365760"/>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Yellow:  letters known to be in the word</a:t>
            </a:r>
            <a:endParaRPr lang="en-US" sz="1400" dirty="0"/>
          </a:p>
        </p:txBody>
      </p:sp>
      <p:sp>
        <p:nvSpPr>
          <p:cNvPr id="18" name="Text 16"/>
          <p:cNvSpPr txBox="1"/>
          <p:nvPr/>
        </p:nvSpPr>
        <p:spPr>
          <a:xfrm>
            <a:off x="548640" y="3959352"/>
            <a:ext cx="256032" cy="256032"/>
          </a:xfrm>
          <a:prstGeom prst="roundRect">
            <a:avLst>
              <a:gd name="adj" fmla="val 21429"/>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19" name="Text 17"/>
          <p:cNvSpPr txBox="1"/>
          <p:nvPr/>
        </p:nvSpPr>
        <p:spPr>
          <a:xfrm>
            <a:off x="960120" y="3922776"/>
            <a:ext cx="5486400" cy="365760"/>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Gray:  letters known to be absent</a:t>
            </a:r>
            <a:endParaRPr lang="en-US" sz="1400" dirty="0"/>
          </a:p>
        </p:txBody>
      </p:sp>
      <p:sp>
        <p:nvSpPr>
          <p:cNvPr id="20" name="Text 18"/>
          <p:cNvSpPr txBox="1"/>
          <p:nvPr/>
        </p:nvSpPr>
        <p:spPr>
          <a:xfrm>
            <a:off x="548640" y="4434840"/>
            <a:ext cx="256032" cy="256032"/>
          </a:xfrm>
          <a:prstGeom prst="roundRect">
            <a:avLst>
              <a:gd name="adj" fmla="val 21429"/>
            </a:avLst>
          </a:prstGeom>
          <a:solidFill>
            <a:srgbClr val="3B6EA5"/>
          </a:solidFill>
          <a:ln>
            <a:solidFill>
              <a:srgbClr val="3B6EA5"/>
            </a:solidFill>
          </a:ln>
        </p:spPr>
        <p:txBody>
          <a:bodyPr wrap="square" lIns="0" tIns="0" rIns="0" bIns="0" rtlCol="0" anchor="ctr"/>
          <a:lstStyle/>
          <a:p>
            <a:pPr algn="ctr" indent="0" marL="0">
              <a:buNone/>
            </a:pPr>
            <a:endParaRPr lang="en-US" sz="2000" dirty="0"/>
          </a:p>
        </p:txBody>
      </p:sp>
      <p:sp>
        <p:nvSpPr>
          <p:cNvPr id="21" name="Text 19"/>
          <p:cNvSpPr txBox="1"/>
          <p:nvPr/>
        </p:nvSpPr>
        <p:spPr>
          <a:xfrm>
            <a:off x="960120" y="4398264"/>
            <a:ext cx="5486400" cy="365760"/>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Left:  guesses remaining</a:t>
            </a:r>
            <a:endParaRPr lang="en-US" sz="1400" dirty="0"/>
          </a:p>
        </p:txBody>
      </p:sp>
      <p:sp>
        <p:nvSpPr>
          <p:cNvPr id="22" name="Text 20"/>
          <p:cNvSpPr txBox="1"/>
          <p:nvPr/>
        </p:nvSpPr>
        <p:spPr>
          <a:xfrm>
            <a:off x="548640" y="5029200"/>
            <a:ext cx="5760720" cy="64008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Stores the constraints, not the guess history, so it satisfies the Markov property.</a:t>
            </a:r>
            <a:endParaRPr lang="en-US" sz="1350" dirty="0"/>
          </a:p>
        </p:txBody>
      </p:sp>
      <p:sp>
        <p:nvSpPr>
          <p:cNvPr id="23" name="Text 21"/>
          <p:cNvSpPr txBox="1"/>
          <p:nvPr/>
        </p:nvSpPr>
        <p:spPr>
          <a:xfrm>
            <a:off x="6812280" y="1463040"/>
            <a:ext cx="4572000" cy="274320"/>
          </a:xfrm>
          <a:prstGeom prst="rect">
            <a:avLst/>
          </a:prstGeom>
          <a:noFill/>
          <a:ln/>
        </p:spPr>
        <p:txBody>
          <a:bodyPr wrap="square" lIns="0" tIns="0" rIns="0" bIns="0" rtlCol="0" anchor="t"/>
          <a:lstStyle/>
          <a:p>
            <a:pPr indent="0" marL="0">
              <a:buNone/>
            </a:pPr>
            <a:r>
              <a:rPr lang="en-US" sz="1100" b="1" spc="200" kern="0" dirty="0">
                <a:solidFill>
                  <a:srgbClr val="5F6368"/>
                </a:solidFill>
                <a:latin typeface="Arial" pitchFamily="34" charset="0"/>
                <a:ea typeface="Arial" pitchFamily="34" charset="-122"/>
                <a:cs typeface="Arial" pitchFamily="34" charset="-120"/>
              </a:rPr>
              <a:t>REWARD</a:t>
            </a:r>
            <a:endParaRPr lang="en-US" sz="1100" dirty="0"/>
          </a:p>
        </p:txBody>
      </p:sp>
      <p:sp>
        <p:nvSpPr>
          <p:cNvPr id="24" name="Shape 22"/>
          <p:cNvSpPr/>
          <p:nvPr/>
        </p:nvSpPr>
        <p:spPr>
          <a:xfrm>
            <a:off x="6812280" y="1828800"/>
            <a:ext cx="4828032" cy="512064"/>
          </a:xfrm>
          <a:prstGeom prst="roundRect">
            <a:avLst>
              <a:gd name="adj" fmla="val 14286"/>
            </a:avLst>
          </a:prstGeom>
          <a:solidFill>
            <a:srgbClr val="F3F4F5"/>
          </a:solidFill>
          <a:ln w="12700">
            <a:solidFill>
              <a:srgbClr val="F3F4F5"/>
            </a:solidFill>
            <a:prstDash val="solid"/>
          </a:ln>
        </p:spPr>
      </p:sp>
      <p:sp>
        <p:nvSpPr>
          <p:cNvPr id="25" name="Text 23"/>
          <p:cNvSpPr txBox="1"/>
          <p:nvPr/>
        </p:nvSpPr>
        <p:spPr>
          <a:xfrm>
            <a:off x="7040880" y="1947672"/>
            <a:ext cx="1920240" cy="292608"/>
          </a:xfrm>
          <a:prstGeom prst="rect">
            <a:avLst/>
          </a:prstGeom>
          <a:noFill/>
          <a:ln/>
        </p:spPr>
        <p:txBody>
          <a:bodyPr wrap="square" lIns="0" tIns="0" rIns="0" bIns="0" rtlCol="0" anchor="t"/>
          <a:lstStyle/>
          <a:p>
            <a:pPr indent="0" marL="0">
              <a:buNone/>
            </a:pPr>
            <a:r>
              <a:rPr lang="en-US" sz="1400" b="1" dirty="0">
                <a:solidFill>
                  <a:srgbClr val="1A1A1B"/>
                </a:solidFill>
                <a:latin typeface="Arial" pitchFamily="34" charset="0"/>
                <a:ea typeface="Arial" pitchFamily="34" charset="-122"/>
                <a:cs typeface="Arial" pitchFamily="34" charset="-120"/>
              </a:rPr>
              <a:t>Each guess</a:t>
            </a:r>
            <a:endParaRPr lang="en-US" sz="1400" dirty="0"/>
          </a:p>
        </p:txBody>
      </p:sp>
      <p:sp>
        <p:nvSpPr>
          <p:cNvPr id="26" name="Text 24"/>
          <p:cNvSpPr txBox="1"/>
          <p:nvPr/>
        </p:nvSpPr>
        <p:spPr>
          <a:xfrm>
            <a:off x="8961120" y="1947672"/>
            <a:ext cx="2560320" cy="29260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−1.0</a:t>
            </a:r>
            <a:endParaRPr lang="en-US" sz="1400" dirty="0"/>
          </a:p>
        </p:txBody>
      </p:sp>
      <p:sp>
        <p:nvSpPr>
          <p:cNvPr id="27" name="Shape 25"/>
          <p:cNvSpPr/>
          <p:nvPr/>
        </p:nvSpPr>
        <p:spPr>
          <a:xfrm>
            <a:off x="6812280" y="2432304"/>
            <a:ext cx="4828032" cy="512064"/>
          </a:xfrm>
          <a:prstGeom prst="roundRect">
            <a:avLst>
              <a:gd name="adj" fmla="val 14286"/>
            </a:avLst>
          </a:prstGeom>
          <a:solidFill>
            <a:srgbClr val="F3F4F5"/>
          </a:solidFill>
          <a:ln w="12700">
            <a:solidFill>
              <a:srgbClr val="F3F4F5"/>
            </a:solidFill>
            <a:prstDash val="solid"/>
          </a:ln>
        </p:spPr>
      </p:sp>
      <p:sp>
        <p:nvSpPr>
          <p:cNvPr id="28" name="Text 26"/>
          <p:cNvSpPr txBox="1"/>
          <p:nvPr/>
        </p:nvSpPr>
        <p:spPr>
          <a:xfrm>
            <a:off x="7040880" y="2551176"/>
            <a:ext cx="1920240" cy="292608"/>
          </a:xfrm>
          <a:prstGeom prst="rect">
            <a:avLst/>
          </a:prstGeom>
          <a:noFill/>
          <a:ln/>
        </p:spPr>
        <p:txBody>
          <a:bodyPr wrap="square" lIns="0" tIns="0" rIns="0" bIns="0" rtlCol="0" anchor="t"/>
          <a:lstStyle/>
          <a:p>
            <a:pPr indent="0" marL="0">
              <a:buNone/>
            </a:pPr>
            <a:r>
              <a:rPr lang="en-US" sz="1400" b="1" dirty="0">
                <a:solidFill>
                  <a:srgbClr val="1A1A1B"/>
                </a:solidFill>
                <a:latin typeface="Arial" pitchFamily="34" charset="0"/>
                <a:ea typeface="Arial" pitchFamily="34" charset="-122"/>
                <a:cs typeface="Arial" pitchFamily="34" charset="-120"/>
              </a:rPr>
              <a:t>Information gain</a:t>
            </a:r>
            <a:endParaRPr lang="en-US" sz="1400" dirty="0"/>
          </a:p>
        </p:txBody>
      </p:sp>
      <p:sp>
        <p:nvSpPr>
          <p:cNvPr id="29" name="Text 27"/>
          <p:cNvSpPr txBox="1"/>
          <p:nvPr/>
        </p:nvSpPr>
        <p:spPr>
          <a:xfrm>
            <a:off x="8961120" y="2551176"/>
            <a:ext cx="2560320" cy="29260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+0.5 × log₂(before / after)</a:t>
            </a:r>
            <a:endParaRPr lang="en-US" sz="1400" dirty="0"/>
          </a:p>
        </p:txBody>
      </p:sp>
      <p:sp>
        <p:nvSpPr>
          <p:cNvPr id="30" name="Shape 28"/>
          <p:cNvSpPr/>
          <p:nvPr/>
        </p:nvSpPr>
        <p:spPr>
          <a:xfrm>
            <a:off x="6812280" y="3035808"/>
            <a:ext cx="4828032" cy="512064"/>
          </a:xfrm>
          <a:prstGeom prst="roundRect">
            <a:avLst>
              <a:gd name="adj" fmla="val 14286"/>
            </a:avLst>
          </a:prstGeom>
          <a:solidFill>
            <a:srgbClr val="F3F4F5"/>
          </a:solidFill>
          <a:ln w="12700">
            <a:solidFill>
              <a:srgbClr val="F3F4F5"/>
            </a:solidFill>
            <a:prstDash val="solid"/>
          </a:ln>
        </p:spPr>
      </p:sp>
      <p:sp>
        <p:nvSpPr>
          <p:cNvPr id="31" name="Text 29"/>
          <p:cNvSpPr txBox="1"/>
          <p:nvPr/>
        </p:nvSpPr>
        <p:spPr>
          <a:xfrm>
            <a:off x="7040880" y="3154680"/>
            <a:ext cx="1920240" cy="292608"/>
          </a:xfrm>
          <a:prstGeom prst="rect">
            <a:avLst/>
          </a:prstGeom>
          <a:noFill/>
          <a:ln/>
        </p:spPr>
        <p:txBody>
          <a:bodyPr wrap="square" lIns="0" tIns="0" rIns="0" bIns="0" rtlCol="0" anchor="t"/>
          <a:lstStyle/>
          <a:p>
            <a:pPr indent="0" marL="0">
              <a:buNone/>
            </a:pPr>
            <a:r>
              <a:rPr lang="en-US" sz="1400" b="1" dirty="0">
                <a:solidFill>
                  <a:srgbClr val="1A1A1B"/>
                </a:solidFill>
                <a:latin typeface="Arial" pitchFamily="34" charset="0"/>
                <a:ea typeface="Arial" pitchFamily="34" charset="-122"/>
                <a:cs typeface="Arial" pitchFamily="34" charset="-120"/>
              </a:rPr>
              <a:t>Solved on guess k</a:t>
            </a:r>
            <a:endParaRPr lang="en-US" sz="1400" dirty="0"/>
          </a:p>
        </p:txBody>
      </p:sp>
      <p:sp>
        <p:nvSpPr>
          <p:cNvPr id="32" name="Text 30"/>
          <p:cNvSpPr txBox="1"/>
          <p:nvPr/>
        </p:nvSpPr>
        <p:spPr>
          <a:xfrm>
            <a:off x="8961120" y="3154680"/>
            <a:ext cx="2560320" cy="29260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+10 + 2 × (6 − k)</a:t>
            </a:r>
            <a:endParaRPr lang="en-US" sz="1400" dirty="0"/>
          </a:p>
        </p:txBody>
      </p:sp>
      <p:sp>
        <p:nvSpPr>
          <p:cNvPr id="33" name="Shape 31"/>
          <p:cNvSpPr/>
          <p:nvPr/>
        </p:nvSpPr>
        <p:spPr>
          <a:xfrm>
            <a:off x="6812280" y="3639312"/>
            <a:ext cx="4828032" cy="512064"/>
          </a:xfrm>
          <a:prstGeom prst="roundRect">
            <a:avLst>
              <a:gd name="adj" fmla="val 14286"/>
            </a:avLst>
          </a:prstGeom>
          <a:solidFill>
            <a:srgbClr val="F3F4F5"/>
          </a:solidFill>
          <a:ln w="12700">
            <a:solidFill>
              <a:srgbClr val="F3F4F5"/>
            </a:solidFill>
            <a:prstDash val="solid"/>
          </a:ln>
        </p:spPr>
      </p:sp>
      <p:sp>
        <p:nvSpPr>
          <p:cNvPr id="34" name="Text 32"/>
          <p:cNvSpPr txBox="1"/>
          <p:nvPr/>
        </p:nvSpPr>
        <p:spPr>
          <a:xfrm>
            <a:off x="7040880" y="3758184"/>
            <a:ext cx="1920240" cy="292608"/>
          </a:xfrm>
          <a:prstGeom prst="rect">
            <a:avLst/>
          </a:prstGeom>
          <a:noFill/>
          <a:ln/>
        </p:spPr>
        <p:txBody>
          <a:bodyPr wrap="square" lIns="0" tIns="0" rIns="0" bIns="0" rtlCol="0" anchor="t"/>
          <a:lstStyle/>
          <a:p>
            <a:pPr indent="0" marL="0">
              <a:buNone/>
            </a:pPr>
            <a:r>
              <a:rPr lang="en-US" sz="1400" b="1" dirty="0">
                <a:solidFill>
                  <a:srgbClr val="1A1A1B"/>
                </a:solidFill>
                <a:latin typeface="Arial" pitchFamily="34" charset="0"/>
                <a:ea typeface="Arial" pitchFamily="34" charset="-122"/>
                <a:cs typeface="Arial" pitchFamily="34" charset="-120"/>
              </a:rPr>
              <a:t>Failed after 6</a:t>
            </a:r>
            <a:endParaRPr lang="en-US" sz="1400" dirty="0"/>
          </a:p>
        </p:txBody>
      </p:sp>
      <p:sp>
        <p:nvSpPr>
          <p:cNvPr id="35" name="Text 33"/>
          <p:cNvSpPr txBox="1"/>
          <p:nvPr/>
        </p:nvSpPr>
        <p:spPr>
          <a:xfrm>
            <a:off x="8961120" y="3758184"/>
            <a:ext cx="2560320" cy="29260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−5.0</a:t>
            </a:r>
            <a:endParaRPr lang="en-US" sz="1400" dirty="0"/>
          </a:p>
        </p:txBody>
      </p:sp>
      <p:sp>
        <p:nvSpPr>
          <p:cNvPr id="36" name="Shape 34"/>
          <p:cNvSpPr/>
          <p:nvPr/>
        </p:nvSpPr>
        <p:spPr>
          <a:xfrm>
            <a:off x="6812280" y="4389120"/>
            <a:ext cx="4828032" cy="1417320"/>
          </a:xfrm>
          <a:prstGeom prst="roundRect">
            <a:avLst>
              <a:gd name="adj" fmla="val 5161"/>
            </a:avLst>
          </a:prstGeom>
          <a:solidFill>
            <a:srgbClr val="121213"/>
          </a:solidFill>
          <a:ln w="12700">
            <a:solidFill>
              <a:srgbClr val="121213"/>
            </a:solidFill>
            <a:prstDash val="solid"/>
          </a:ln>
        </p:spPr>
      </p:sp>
      <p:sp>
        <p:nvSpPr>
          <p:cNvPr id="37" name="Text 35"/>
          <p:cNvSpPr txBox="1"/>
          <p:nvPr/>
        </p:nvSpPr>
        <p:spPr>
          <a:xfrm>
            <a:off x="7040880" y="4526280"/>
            <a:ext cx="4389120"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Total return = 22 − 3k</a:t>
            </a:r>
            <a:endParaRPr lang="en-US" sz="2600" dirty="0"/>
          </a:p>
        </p:txBody>
      </p:sp>
      <p:sp>
        <p:nvSpPr>
          <p:cNvPr id="38" name="Text 36"/>
          <p:cNvSpPr txBox="1"/>
          <p:nvPr/>
        </p:nvSpPr>
        <p:spPr>
          <a:xfrm>
            <a:off x="7040880" y="5120640"/>
            <a:ext cx="4389120" cy="457200"/>
          </a:xfrm>
          <a:prstGeom prst="rect">
            <a:avLst/>
          </a:prstGeom>
          <a:noFill/>
          <a:ln/>
        </p:spPr>
        <p:txBody>
          <a:bodyPr wrap="square" lIns="0" tIns="0" rIns="0" bIns="0" rtlCol="0" anchor="t"/>
          <a:lstStyle/>
          <a:p>
            <a:pPr indent="0" marL="0">
              <a:buNone/>
            </a:pPr>
            <a:r>
              <a:rPr lang="en-US" sz="1350" dirty="0">
                <a:solidFill>
                  <a:srgbClr val="C9CCD0"/>
                </a:solidFill>
                <a:latin typeface="Arial" pitchFamily="34" charset="0"/>
                <a:ea typeface="Arial" pitchFamily="34" charset="-122"/>
                <a:cs typeface="Arial" pitchFamily="34" charset="-120"/>
              </a:rPr>
              <a:t>Win on guess 2 = +16   ·   guess 6 = +4   ·   fail = −11</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VALUE FUNCTION</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How good is each state?</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9</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graphicFrame>
        <p:nvGraphicFramePr>
          <p:cNvPr id="9" name="Chart 0" descr=""/>
          <p:cNvGraphicFramePr/>
          <p:nvPr/>
        </p:nvGraphicFramePr>
        <p:xfrm>
          <a:off x="548640" y="1417320"/>
          <a:ext cx="6583680" cy="452628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7498080" y="1463040"/>
            <a:ext cx="4142232" cy="1554480"/>
          </a:xfrm>
          <a:prstGeom prst="roundRect">
            <a:avLst>
              <a:gd name="adj" fmla="val 4706"/>
            </a:avLst>
          </a:prstGeom>
          <a:solidFill>
            <a:srgbClr val="EAF3E9"/>
          </a:solidFill>
          <a:ln w="12700">
            <a:solidFill>
              <a:srgbClr val="EAF3E9"/>
            </a:solidFill>
            <a:prstDash val="solid"/>
          </a:ln>
        </p:spPr>
      </p:sp>
      <p:sp>
        <p:nvSpPr>
          <p:cNvPr id="11" name="Text 8"/>
          <p:cNvSpPr txBox="1"/>
          <p:nvPr/>
        </p:nvSpPr>
        <p:spPr>
          <a:xfrm>
            <a:off x="7726680" y="1627632"/>
            <a:ext cx="3749040" cy="1234440"/>
          </a:xfrm>
          <a:prstGeom prst="rect">
            <a:avLst/>
          </a:prstGeom>
          <a:noFill/>
          <a:ln/>
        </p:spPr>
        <p:txBody>
          <a:bodyPr wrap="square" lIns="0" tIns="0" rIns="0" bIns="0" rtlCol="0" anchor="ctr"/>
          <a:lstStyle/>
          <a:p>
            <a:pPr indent="0" marL="0">
              <a:buNone/>
            </a:pPr>
            <a:r>
              <a:rPr lang="en-US" sz="1600" b="1" dirty="0">
                <a:solidFill>
                  <a:srgbClr val="1A1A1B"/>
                </a:solidFill>
                <a:latin typeface="Arial" pitchFamily="34" charset="0"/>
                <a:ea typeface="Arial" pitchFamily="34" charset="-122"/>
                <a:cs typeface="Arial" pitchFamily="34" charset="-120"/>
              </a:rPr>
              <a:t>V(s) = expected total reward from state s</a:t>
            </a:r>
            <a:endParaRPr lang="en-US" sz="1600" dirty="0"/>
          </a:p>
        </p:txBody>
      </p:sp>
      <p:sp>
        <p:nvSpPr>
          <p:cNvPr id="12" name="Text 9"/>
          <p:cNvSpPr txBox="1"/>
          <p:nvPr/>
        </p:nvSpPr>
        <p:spPr>
          <a:xfrm>
            <a:off x="7498080" y="3291840"/>
            <a:ext cx="4114800" cy="256032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A1A1B"/>
                </a:solidFill>
                <a:latin typeface="Arial" pitchFamily="34" charset="0"/>
                <a:ea typeface="Arial" pitchFamily="34" charset="-122"/>
                <a:cs typeface="Arial" pitchFamily="34" charset="-120"/>
              </a:rPr>
              <a:t>Value drops as guesses run out: 15.99 with 6 left, 11.00 with 2 left</a:t>
            </a:r>
            <a:endParaRPr lang="en-US" sz="1450" dirty="0"/>
          </a:p>
          <a:p>
            <a:pPr marL="342900" indent="-342900">
              <a:spcAft>
                <a:spcPts val="800"/>
              </a:spcAft>
              <a:buSzPct val="100000"/>
              <a:buChar char="•"/>
            </a:pPr>
            <a:r>
              <a:rPr lang="en-US" sz="1450" dirty="0">
                <a:solidFill>
                  <a:srgbClr val="1A1A1B"/>
                </a:solidFill>
                <a:latin typeface="Arial" pitchFamily="34" charset="0"/>
                <a:ea typeface="Arial" pitchFamily="34" charset="-122"/>
                <a:cs typeface="Arial" pitchFamily="34" charset="-120"/>
              </a:rPr>
              <a:t>Few states ever reach 2 left, because a good policy rarely gets there</a:t>
            </a:r>
            <a:endParaRPr lang="en-US" sz="1450" dirty="0"/>
          </a:p>
          <a:p>
            <a:pPr marL="342900" indent="-342900">
              <a:spcAft>
                <a:spcPts val="800"/>
              </a:spcAft>
              <a:buSzPct val="100000"/>
              <a:buChar char="•"/>
            </a:pPr>
            <a:r>
              <a:rPr lang="en-US" sz="1450" dirty="0">
                <a:solidFill>
                  <a:srgbClr val="1A1A1B"/>
                </a:solidFill>
                <a:latin typeface="Arial" pitchFamily="34" charset="0"/>
                <a:ea typeface="Arial" pitchFamily="34" charset="-122"/>
                <a:cs typeface="Arial" pitchFamily="34" charset="-120"/>
              </a:rPr>
              <a:t>Measured by running the policy over all 200 words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ALGORITHM</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Deep Q-Network with three upgrades</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10</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sp>
        <p:nvSpPr>
          <p:cNvPr id="9" name="Shape 7"/>
          <p:cNvSpPr/>
          <p:nvPr/>
        </p:nvSpPr>
        <p:spPr>
          <a:xfrm>
            <a:off x="548640" y="1463040"/>
            <a:ext cx="3291840" cy="2103120"/>
          </a:xfrm>
          <a:prstGeom prst="roundRect">
            <a:avLst>
              <a:gd name="adj" fmla="val 3478"/>
            </a:avLst>
          </a:prstGeom>
          <a:solidFill>
            <a:srgbClr val="F3F4F5"/>
          </a:solidFill>
          <a:ln w="12700">
            <a:solidFill>
              <a:srgbClr val="F3F4F5"/>
            </a:solidFill>
            <a:prstDash val="solid"/>
          </a:ln>
        </p:spPr>
      </p:sp>
      <p:sp>
        <p:nvSpPr>
          <p:cNvPr id="10" name="Text 8"/>
          <p:cNvSpPr txBox="1"/>
          <p:nvPr/>
        </p:nvSpPr>
        <p:spPr>
          <a:xfrm>
            <a:off x="777240" y="1691640"/>
            <a:ext cx="457200" cy="457200"/>
          </a:xfrm>
          <a:prstGeom prst="roundRect">
            <a:avLst>
              <a:gd name="adj" fmla="val 12000"/>
            </a:avLst>
          </a:prstGeom>
          <a:solidFill>
            <a:srgbClr val="6AAA64"/>
          </a:solidFill>
          <a:ln>
            <a:solidFill>
              <a:srgbClr val="6AAA64"/>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1" name="Text 9"/>
          <p:cNvSpPr txBox="1"/>
          <p:nvPr/>
        </p:nvSpPr>
        <p:spPr>
          <a:xfrm>
            <a:off x="1417320" y="1737360"/>
            <a:ext cx="2286000" cy="384048"/>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Double DQN</a:t>
            </a:r>
            <a:endParaRPr lang="en-US" sz="1700" dirty="0"/>
          </a:p>
        </p:txBody>
      </p:sp>
      <p:sp>
        <p:nvSpPr>
          <p:cNvPr id="12" name="Text 10"/>
          <p:cNvSpPr txBox="1"/>
          <p:nvPr/>
        </p:nvSpPr>
        <p:spPr>
          <a:xfrm>
            <a:off x="777240" y="2331720"/>
            <a:ext cx="2880360" cy="114300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One network picks the next move, a second network scores it. Stops values from being overestimated.</a:t>
            </a:r>
            <a:endParaRPr lang="en-US" sz="1350" dirty="0"/>
          </a:p>
        </p:txBody>
      </p:sp>
      <p:sp>
        <p:nvSpPr>
          <p:cNvPr id="13" name="Shape 11"/>
          <p:cNvSpPr/>
          <p:nvPr/>
        </p:nvSpPr>
        <p:spPr>
          <a:xfrm>
            <a:off x="4023360" y="1463040"/>
            <a:ext cx="3291840" cy="2103120"/>
          </a:xfrm>
          <a:prstGeom prst="roundRect">
            <a:avLst>
              <a:gd name="adj" fmla="val 3478"/>
            </a:avLst>
          </a:prstGeom>
          <a:solidFill>
            <a:srgbClr val="F3F4F5"/>
          </a:solidFill>
          <a:ln w="12700">
            <a:solidFill>
              <a:srgbClr val="F3F4F5"/>
            </a:solidFill>
            <a:prstDash val="solid"/>
          </a:ln>
        </p:spPr>
      </p:sp>
      <p:sp>
        <p:nvSpPr>
          <p:cNvPr id="14" name="Text 12"/>
          <p:cNvSpPr txBox="1"/>
          <p:nvPr/>
        </p:nvSpPr>
        <p:spPr>
          <a:xfrm>
            <a:off x="4251960" y="1691640"/>
            <a:ext cx="457200" cy="457200"/>
          </a:xfrm>
          <a:prstGeom prst="roundRect">
            <a:avLst>
              <a:gd name="adj" fmla="val 12000"/>
            </a:avLst>
          </a:prstGeom>
          <a:solidFill>
            <a:srgbClr val="C9B458"/>
          </a:solidFill>
          <a:ln>
            <a:solidFill>
              <a:srgbClr val="C9B458"/>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5" name="Text 13"/>
          <p:cNvSpPr txBox="1"/>
          <p:nvPr/>
        </p:nvSpPr>
        <p:spPr>
          <a:xfrm>
            <a:off x="4892040" y="1737360"/>
            <a:ext cx="2286000" cy="384048"/>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Prioritized Replay</a:t>
            </a:r>
            <a:endParaRPr lang="en-US" sz="1700" dirty="0"/>
          </a:p>
        </p:txBody>
      </p:sp>
      <p:sp>
        <p:nvSpPr>
          <p:cNvPr id="16" name="Text 14"/>
          <p:cNvSpPr txBox="1"/>
          <p:nvPr/>
        </p:nvSpPr>
        <p:spPr>
          <a:xfrm>
            <a:off x="4251960" y="2331720"/>
            <a:ext cx="2880360" cy="114300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Replays past experiences the agent predicted worst more often, so it learns faster.</a:t>
            </a:r>
            <a:endParaRPr lang="en-US" sz="1350" dirty="0"/>
          </a:p>
        </p:txBody>
      </p:sp>
      <p:sp>
        <p:nvSpPr>
          <p:cNvPr id="17" name="Shape 15"/>
          <p:cNvSpPr/>
          <p:nvPr/>
        </p:nvSpPr>
        <p:spPr>
          <a:xfrm>
            <a:off x="548640" y="3749040"/>
            <a:ext cx="3291840" cy="2103120"/>
          </a:xfrm>
          <a:prstGeom prst="roundRect">
            <a:avLst>
              <a:gd name="adj" fmla="val 3478"/>
            </a:avLst>
          </a:prstGeom>
          <a:solidFill>
            <a:srgbClr val="F3F4F5"/>
          </a:solidFill>
          <a:ln w="12700">
            <a:solidFill>
              <a:srgbClr val="F3F4F5"/>
            </a:solidFill>
            <a:prstDash val="solid"/>
          </a:ln>
        </p:spPr>
      </p:sp>
      <p:sp>
        <p:nvSpPr>
          <p:cNvPr id="18" name="Text 16"/>
          <p:cNvSpPr txBox="1"/>
          <p:nvPr/>
        </p:nvSpPr>
        <p:spPr>
          <a:xfrm>
            <a:off x="777240" y="3977640"/>
            <a:ext cx="457200" cy="457200"/>
          </a:xfrm>
          <a:prstGeom prst="roundRect">
            <a:avLst>
              <a:gd name="adj" fmla="val 12000"/>
            </a:avLst>
          </a:prstGeom>
          <a:solidFill>
            <a:srgbClr val="787C7E"/>
          </a:solidFill>
          <a:ln>
            <a:solidFill>
              <a:srgbClr val="787C7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txBox="1"/>
          <p:nvPr/>
        </p:nvSpPr>
        <p:spPr>
          <a:xfrm>
            <a:off x="1417320" y="4023360"/>
            <a:ext cx="2286000" cy="384048"/>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Action Masking</a:t>
            </a:r>
            <a:endParaRPr lang="en-US" sz="1700" dirty="0"/>
          </a:p>
        </p:txBody>
      </p:sp>
      <p:sp>
        <p:nvSpPr>
          <p:cNvPr id="20" name="Text 18"/>
          <p:cNvSpPr txBox="1"/>
          <p:nvPr/>
        </p:nvSpPr>
        <p:spPr>
          <a:xfrm>
            <a:off x="777240" y="4617720"/>
            <a:ext cx="2880360" cy="114300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Impossible words get −∞ before choosing, at both selection and target computation.</a:t>
            </a:r>
            <a:endParaRPr lang="en-US" sz="1350" dirty="0"/>
          </a:p>
        </p:txBody>
      </p:sp>
      <p:sp>
        <p:nvSpPr>
          <p:cNvPr id="21" name="Shape 19"/>
          <p:cNvSpPr/>
          <p:nvPr/>
        </p:nvSpPr>
        <p:spPr>
          <a:xfrm>
            <a:off x="4023360" y="3749040"/>
            <a:ext cx="3291840" cy="2103120"/>
          </a:xfrm>
          <a:prstGeom prst="roundRect">
            <a:avLst>
              <a:gd name="adj" fmla="val 3478"/>
            </a:avLst>
          </a:prstGeom>
          <a:solidFill>
            <a:srgbClr val="F3F4F5"/>
          </a:solidFill>
          <a:ln w="12700">
            <a:solidFill>
              <a:srgbClr val="F3F4F5"/>
            </a:solidFill>
            <a:prstDash val="solid"/>
          </a:ln>
        </p:spPr>
      </p:sp>
      <p:sp>
        <p:nvSpPr>
          <p:cNvPr id="22" name="Text 20"/>
          <p:cNvSpPr txBox="1"/>
          <p:nvPr/>
        </p:nvSpPr>
        <p:spPr>
          <a:xfrm>
            <a:off x="4251960" y="3977640"/>
            <a:ext cx="457200" cy="457200"/>
          </a:xfrm>
          <a:prstGeom prst="roundRect">
            <a:avLst>
              <a:gd name="adj" fmla="val 12000"/>
            </a:avLst>
          </a:prstGeom>
          <a:solidFill>
            <a:srgbClr val="6AAA64"/>
          </a:solidFill>
          <a:ln>
            <a:solidFill>
              <a:srgbClr val="6AAA64"/>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3" name="Text 21"/>
          <p:cNvSpPr txBox="1"/>
          <p:nvPr/>
        </p:nvSpPr>
        <p:spPr>
          <a:xfrm>
            <a:off x="4892040" y="4023360"/>
            <a:ext cx="2286000" cy="384048"/>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Curriculum</a:t>
            </a:r>
            <a:endParaRPr lang="en-US" sz="1700" dirty="0"/>
          </a:p>
        </p:txBody>
      </p:sp>
      <p:sp>
        <p:nvSpPr>
          <p:cNvPr id="24" name="Text 22"/>
          <p:cNvSpPr txBox="1"/>
          <p:nvPr/>
        </p:nvSpPr>
        <p:spPr>
          <a:xfrm>
            <a:off x="4251960" y="4617720"/>
            <a:ext cx="2880360" cy="114300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Starts on 200 words and grows in 7 stages up to 8,636.</a:t>
            </a:r>
            <a:endParaRPr lang="en-US" sz="1350" dirty="0"/>
          </a:p>
        </p:txBody>
      </p:sp>
      <p:sp>
        <p:nvSpPr>
          <p:cNvPr id="25" name="Text 23"/>
          <p:cNvSpPr txBox="1"/>
          <p:nvPr/>
        </p:nvSpPr>
        <p:spPr>
          <a:xfrm>
            <a:off x="7635240" y="1463040"/>
            <a:ext cx="3657600" cy="274320"/>
          </a:xfrm>
          <a:prstGeom prst="rect">
            <a:avLst/>
          </a:prstGeom>
          <a:noFill/>
          <a:ln/>
        </p:spPr>
        <p:txBody>
          <a:bodyPr wrap="square" lIns="0" tIns="0" rIns="0" bIns="0" rtlCol="0" anchor="t"/>
          <a:lstStyle/>
          <a:p>
            <a:pPr indent="0" marL="0">
              <a:buNone/>
            </a:pPr>
            <a:r>
              <a:rPr lang="en-US" sz="1100" b="1" spc="200" kern="0" dirty="0">
                <a:solidFill>
                  <a:srgbClr val="5F6368"/>
                </a:solidFill>
                <a:latin typeface="Arial" pitchFamily="34" charset="0"/>
                <a:ea typeface="Arial" pitchFamily="34" charset="-122"/>
                <a:cs typeface="Arial" pitchFamily="34" charset="-120"/>
              </a:rPr>
              <a:t>KEY SETTINGS</a:t>
            </a:r>
            <a:endParaRPr lang="en-US" sz="1100" dirty="0"/>
          </a:p>
        </p:txBody>
      </p:sp>
      <p:sp>
        <p:nvSpPr>
          <p:cNvPr id="26" name="Shape 24"/>
          <p:cNvSpPr/>
          <p:nvPr/>
        </p:nvSpPr>
        <p:spPr>
          <a:xfrm>
            <a:off x="7635240" y="1828800"/>
            <a:ext cx="4005072" cy="530352"/>
          </a:xfrm>
          <a:prstGeom prst="roundRect">
            <a:avLst>
              <a:gd name="adj" fmla="val 13793"/>
            </a:avLst>
          </a:prstGeom>
          <a:solidFill>
            <a:srgbClr val="F3F4F5"/>
          </a:solidFill>
          <a:ln w="12700">
            <a:solidFill>
              <a:srgbClr val="F3F4F5"/>
            </a:solidFill>
            <a:prstDash val="solid"/>
          </a:ln>
        </p:spPr>
      </p:sp>
      <p:sp>
        <p:nvSpPr>
          <p:cNvPr id="27" name="Text 25"/>
          <p:cNvSpPr txBox="1"/>
          <p:nvPr/>
        </p:nvSpPr>
        <p:spPr>
          <a:xfrm>
            <a:off x="7863840" y="1947672"/>
            <a:ext cx="2011680" cy="29260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Learning rate</a:t>
            </a:r>
            <a:endParaRPr lang="en-US" sz="1400" dirty="0"/>
          </a:p>
        </p:txBody>
      </p:sp>
      <p:sp>
        <p:nvSpPr>
          <p:cNvPr id="28" name="Text 26"/>
          <p:cNvSpPr txBox="1"/>
          <p:nvPr/>
        </p:nvSpPr>
        <p:spPr>
          <a:xfrm>
            <a:off x="9875520" y="1947672"/>
            <a:ext cx="1645920" cy="292608"/>
          </a:xfrm>
          <a:prstGeom prst="rect">
            <a:avLst/>
          </a:prstGeom>
          <a:noFill/>
          <a:ln/>
        </p:spPr>
        <p:txBody>
          <a:bodyPr wrap="square" lIns="0" tIns="0" rIns="0" bIns="0" rtlCol="0" anchor="t"/>
          <a:lstStyle/>
          <a:p>
            <a:pPr algn="r" indent="0" marL="0">
              <a:buNone/>
            </a:pPr>
            <a:r>
              <a:rPr lang="en-US" sz="1400" b="1" dirty="0">
                <a:solidFill>
                  <a:srgbClr val="1A1A1B"/>
                </a:solidFill>
                <a:latin typeface="Arial" pitchFamily="34" charset="0"/>
                <a:ea typeface="Arial" pitchFamily="34" charset="-122"/>
                <a:cs typeface="Arial" pitchFamily="34" charset="-120"/>
              </a:rPr>
              <a:t>5 × 10⁻⁴</a:t>
            </a:r>
            <a:endParaRPr lang="en-US" sz="1400" dirty="0"/>
          </a:p>
        </p:txBody>
      </p:sp>
      <p:sp>
        <p:nvSpPr>
          <p:cNvPr id="29" name="Shape 27"/>
          <p:cNvSpPr/>
          <p:nvPr/>
        </p:nvSpPr>
        <p:spPr>
          <a:xfrm>
            <a:off x="7635240" y="2468880"/>
            <a:ext cx="4005072" cy="530352"/>
          </a:xfrm>
          <a:prstGeom prst="roundRect">
            <a:avLst>
              <a:gd name="adj" fmla="val 13793"/>
            </a:avLst>
          </a:prstGeom>
          <a:solidFill>
            <a:srgbClr val="F3F4F5"/>
          </a:solidFill>
          <a:ln w="12700">
            <a:solidFill>
              <a:srgbClr val="F3F4F5"/>
            </a:solidFill>
            <a:prstDash val="solid"/>
          </a:ln>
        </p:spPr>
      </p:sp>
      <p:sp>
        <p:nvSpPr>
          <p:cNvPr id="30" name="Text 28"/>
          <p:cNvSpPr txBox="1"/>
          <p:nvPr/>
        </p:nvSpPr>
        <p:spPr>
          <a:xfrm>
            <a:off x="7863840" y="2587752"/>
            <a:ext cx="2011680" cy="29260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Discount γ</a:t>
            </a:r>
            <a:endParaRPr lang="en-US" sz="1400" dirty="0"/>
          </a:p>
        </p:txBody>
      </p:sp>
      <p:sp>
        <p:nvSpPr>
          <p:cNvPr id="31" name="Text 29"/>
          <p:cNvSpPr txBox="1"/>
          <p:nvPr/>
        </p:nvSpPr>
        <p:spPr>
          <a:xfrm>
            <a:off x="9875520" y="2587752"/>
            <a:ext cx="1645920" cy="292608"/>
          </a:xfrm>
          <a:prstGeom prst="rect">
            <a:avLst/>
          </a:prstGeom>
          <a:noFill/>
          <a:ln/>
        </p:spPr>
        <p:txBody>
          <a:bodyPr wrap="square" lIns="0" tIns="0" rIns="0" bIns="0" rtlCol="0" anchor="t"/>
          <a:lstStyle/>
          <a:p>
            <a:pPr algn="r" indent="0" marL="0">
              <a:buNone/>
            </a:pPr>
            <a:r>
              <a:rPr lang="en-US" sz="1400" b="1" dirty="0">
                <a:solidFill>
                  <a:srgbClr val="1A1A1B"/>
                </a:solidFill>
                <a:latin typeface="Arial" pitchFamily="34" charset="0"/>
                <a:ea typeface="Arial" pitchFamily="34" charset="-122"/>
                <a:cs typeface="Arial" pitchFamily="34" charset="-120"/>
              </a:rPr>
              <a:t>0.99</a:t>
            </a:r>
            <a:endParaRPr lang="en-US" sz="1400" dirty="0"/>
          </a:p>
        </p:txBody>
      </p:sp>
      <p:sp>
        <p:nvSpPr>
          <p:cNvPr id="32" name="Shape 30"/>
          <p:cNvSpPr/>
          <p:nvPr/>
        </p:nvSpPr>
        <p:spPr>
          <a:xfrm>
            <a:off x="7635240" y="3108960"/>
            <a:ext cx="4005072" cy="530352"/>
          </a:xfrm>
          <a:prstGeom prst="roundRect">
            <a:avLst>
              <a:gd name="adj" fmla="val 13793"/>
            </a:avLst>
          </a:prstGeom>
          <a:solidFill>
            <a:srgbClr val="F3F4F5"/>
          </a:solidFill>
          <a:ln w="12700">
            <a:solidFill>
              <a:srgbClr val="F3F4F5"/>
            </a:solidFill>
            <a:prstDash val="solid"/>
          </a:ln>
        </p:spPr>
      </p:sp>
      <p:sp>
        <p:nvSpPr>
          <p:cNvPr id="33" name="Text 31"/>
          <p:cNvSpPr txBox="1"/>
          <p:nvPr/>
        </p:nvSpPr>
        <p:spPr>
          <a:xfrm>
            <a:off x="7863840" y="3227832"/>
            <a:ext cx="2011680" cy="29260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Batch size</a:t>
            </a:r>
            <a:endParaRPr lang="en-US" sz="1400" dirty="0"/>
          </a:p>
        </p:txBody>
      </p:sp>
      <p:sp>
        <p:nvSpPr>
          <p:cNvPr id="34" name="Text 32"/>
          <p:cNvSpPr txBox="1"/>
          <p:nvPr/>
        </p:nvSpPr>
        <p:spPr>
          <a:xfrm>
            <a:off x="9875520" y="3227832"/>
            <a:ext cx="1645920" cy="292608"/>
          </a:xfrm>
          <a:prstGeom prst="rect">
            <a:avLst/>
          </a:prstGeom>
          <a:noFill/>
          <a:ln/>
        </p:spPr>
        <p:txBody>
          <a:bodyPr wrap="square" lIns="0" tIns="0" rIns="0" bIns="0" rtlCol="0" anchor="t"/>
          <a:lstStyle/>
          <a:p>
            <a:pPr algn="r" indent="0" marL="0">
              <a:buNone/>
            </a:pPr>
            <a:r>
              <a:rPr lang="en-US" sz="1400" b="1" dirty="0">
                <a:solidFill>
                  <a:srgbClr val="1A1A1B"/>
                </a:solidFill>
                <a:latin typeface="Arial" pitchFamily="34" charset="0"/>
                <a:ea typeface="Arial" pitchFamily="34" charset="-122"/>
                <a:cs typeface="Arial" pitchFamily="34" charset="-120"/>
              </a:rPr>
              <a:t>128</a:t>
            </a:r>
            <a:endParaRPr lang="en-US" sz="1400" dirty="0"/>
          </a:p>
        </p:txBody>
      </p:sp>
      <p:sp>
        <p:nvSpPr>
          <p:cNvPr id="35" name="Shape 33"/>
          <p:cNvSpPr/>
          <p:nvPr/>
        </p:nvSpPr>
        <p:spPr>
          <a:xfrm>
            <a:off x="7635240" y="3749040"/>
            <a:ext cx="4005072" cy="530352"/>
          </a:xfrm>
          <a:prstGeom prst="roundRect">
            <a:avLst>
              <a:gd name="adj" fmla="val 13793"/>
            </a:avLst>
          </a:prstGeom>
          <a:solidFill>
            <a:srgbClr val="F3F4F5"/>
          </a:solidFill>
          <a:ln w="12700">
            <a:solidFill>
              <a:srgbClr val="F3F4F5"/>
            </a:solidFill>
            <a:prstDash val="solid"/>
          </a:ln>
        </p:spPr>
      </p:sp>
      <p:sp>
        <p:nvSpPr>
          <p:cNvPr id="36" name="Text 34"/>
          <p:cNvSpPr txBox="1"/>
          <p:nvPr/>
        </p:nvSpPr>
        <p:spPr>
          <a:xfrm>
            <a:off x="7863840" y="3867912"/>
            <a:ext cx="2011680" cy="29260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Replay buffer</a:t>
            </a:r>
            <a:endParaRPr lang="en-US" sz="1400" dirty="0"/>
          </a:p>
        </p:txBody>
      </p:sp>
      <p:sp>
        <p:nvSpPr>
          <p:cNvPr id="37" name="Text 35"/>
          <p:cNvSpPr txBox="1"/>
          <p:nvPr/>
        </p:nvSpPr>
        <p:spPr>
          <a:xfrm>
            <a:off x="9875520" y="3867912"/>
            <a:ext cx="1645920" cy="292608"/>
          </a:xfrm>
          <a:prstGeom prst="rect">
            <a:avLst/>
          </a:prstGeom>
          <a:noFill/>
          <a:ln/>
        </p:spPr>
        <p:txBody>
          <a:bodyPr wrap="square" lIns="0" tIns="0" rIns="0" bIns="0" rtlCol="0" anchor="t"/>
          <a:lstStyle/>
          <a:p>
            <a:pPr algn="r" indent="0" marL="0">
              <a:buNone/>
            </a:pPr>
            <a:r>
              <a:rPr lang="en-US" sz="1400" b="1" dirty="0">
                <a:solidFill>
                  <a:srgbClr val="1A1A1B"/>
                </a:solidFill>
                <a:latin typeface="Arial" pitchFamily="34" charset="0"/>
                <a:ea typeface="Arial" pitchFamily="34" charset="-122"/>
                <a:cs typeface="Arial" pitchFamily="34" charset="-120"/>
              </a:rPr>
              <a:t>200,000</a:t>
            </a:r>
            <a:endParaRPr lang="en-US" sz="1400" dirty="0"/>
          </a:p>
        </p:txBody>
      </p:sp>
      <p:sp>
        <p:nvSpPr>
          <p:cNvPr id="38" name="Shape 36"/>
          <p:cNvSpPr/>
          <p:nvPr/>
        </p:nvSpPr>
        <p:spPr>
          <a:xfrm>
            <a:off x="7635240" y="4389120"/>
            <a:ext cx="4005072" cy="530352"/>
          </a:xfrm>
          <a:prstGeom prst="roundRect">
            <a:avLst>
              <a:gd name="adj" fmla="val 13793"/>
            </a:avLst>
          </a:prstGeom>
          <a:solidFill>
            <a:srgbClr val="F3F4F5"/>
          </a:solidFill>
          <a:ln w="12700">
            <a:solidFill>
              <a:srgbClr val="F3F4F5"/>
            </a:solidFill>
            <a:prstDash val="solid"/>
          </a:ln>
        </p:spPr>
      </p:sp>
      <p:sp>
        <p:nvSpPr>
          <p:cNvPr id="39" name="Text 37"/>
          <p:cNvSpPr txBox="1"/>
          <p:nvPr/>
        </p:nvSpPr>
        <p:spPr>
          <a:xfrm>
            <a:off x="7863840" y="4507992"/>
            <a:ext cx="2011680" cy="29260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ε schedule</a:t>
            </a:r>
            <a:endParaRPr lang="en-US" sz="1400" dirty="0"/>
          </a:p>
        </p:txBody>
      </p:sp>
      <p:sp>
        <p:nvSpPr>
          <p:cNvPr id="40" name="Text 38"/>
          <p:cNvSpPr txBox="1"/>
          <p:nvPr/>
        </p:nvSpPr>
        <p:spPr>
          <a:xfrm>
            <a:off x="9875520" y="4507992"/>
            <a:ext cx="1645920" cy="292608"/>
          </a:xfrm>
          <a:prstGeom prst="rect">
            <a:avLst/>
          </a:prstGeom>
          <a:noFill/>
          <a:ln/>
        </p:spPr>
        <p:txBody>
          <a:bodyPr wrap="square" lIns="0" tIns="0" rIns="0" bIns="0" rtlCol="0" anchor="t"/>
          <a:lstStyle/>
          <a:p>
            <a:pPr algn="r" indent="0" marL="0">
              <a:buNone/>
            </a:pPr>
            <a:r>
              <a:rPr lang="en-US" sz="1400" b="1" dirty="0">
                <a:solidFill>
                  <a:srgbClr val="1A1A1B"/>
                </a:solidFill>
                <a:latin typeface="Arial" pitchFamily="34" charset="0"/>
                <a:ea typeface="Arial" pitchFamily="34" charset="-122"/>
                <a:cs typeface="Arial" pitchFamily="34" charset="-120"/>
              </a:rPr>
              <a:t>1.0 → 0.05</a:t>
            </a:r>
            <a:endParaRPr lang="en-US" sz="1400" dirty="0"/>
          </a:p>
        </p:txBody>
      </p:sp>
      <p:sp>
        <p:nvSpPr>
          <p:cNvPr id="41" name="Shape 39"/>
          <p:cNvSpPr/>
          <p:nvPr/>
        </p:nvSpPr>
        <p:spPr>
          <a:xfrm>
            <a:off x="7635240" y="5029200"/>
            <a:ext cx="4005072" cy="530352"/>
          </a:xfrm>
          <a:prstGeom prst="roundRect">
            <a:avLst>
              <a:gd name="adj" fmla="val 13793"/>
            </a:avLst>
          </a:prstGeom>
          <a:solidFill>
            <a:srgbClr val="F3F4F5"/>
          </a:solidFill>
          <a:ln w="12700">
            <a:solidFill>
              <a:srgbClr val="F3F4F5"/>
            </a:solidFill>
            <a:prstDash val="solid"/>
          </a:ln>
        </p:spPr>
      </p:sp>
      <p:sp>
        <p:nvSpPr>
          <p:cNvPr id="42" name="Text 40"/>
          <p:cNvSpPr txBox="1"/>
          <p:nvPr/>
        </p:nvSpPr>
        <p:spPr>
          <a:xfrm>
            <a:off x="7863840" y="5148072"/>
            <a:ext cx="2011680" cy="292608"/>
          </a:xfrm>
          <a:prstGeom prst="rect">
            <a:avLst/>
          </a:prstGeom>
          <a:noFill/>
          <a:ln/>
        </p:spPr>
        <p:txBody>
          <a:bodyPr wrap="square" lIns="0" tIns="0" rIns="0" bIns="0" rtlCol="0" anchor="t"/>
          <a:lstStyle/>
          <a:p>
            <a:pPr indent="0" marL="0">
              <a:buNone/>
            </a:pPr>
            <a:r>
              <a:rPr lang="en-US" sz="1400" dirty="0">
                <a:solidFill>
                  <a:srgbClr val="1A1A1B"/>
                </a:solidFill>
                <a:latin typeface="Arial" pitchFamily="34" charset="0"/>
                <a:ea typeface="Arial" pitchFamily="34" charset="-122"/>
                <a:cs typeface="Arial" pitchFamily="34" charset="-120"/>
              </a:rPr>
              <a:t>Episodes</a:t>
            </a:r>
            <a:endParaRPr lang="en-US" sz="1400" dirty="0"/>
          </a:p>
        </p:txBody>
      </p:sp>
      <p:sp>
        <p:nvSpPr>
          <p:cNvPr id="43" name="Text 41"/>
          <p:cNvSpPr txBox="1"/>
          <p:nvPr/>
        </p:nvSpPr>
        <p:spPr>
          <a:xfrm>
            <a:off x="9875520" y="5148072"/>
            <a:ext cx="1645920" cy="292608"/>
          </a:xfrm>
          <a:prstGeom prst="rect">
            <a:avLst/>
          </a:prstGeom>
          <a:noFill/>
          <a:ln/>
        </p:spPr>
        <p:txBody>
          <a:bodyPr wrap="square" lIns="0" tIns="0" rIns="0" bIns="0" rtlCol="0" anchor="t"/>
          <a:lstStyle/>
          <a:p>
            <a:pPr algn="r" indent="0" marL="0">
              <a:buNone/>
            </a:pPr>
            <a:r>
              <a:rPr lang="en-US" sz="1400" b="1" dirty="0">
                <a:solidFill>
                  <a:srgbClr val="1A1A1B"/>
                </a:solidFill>
                <a:latin typeface="Arial" pitchFamily="34" charset="0"/>
                <a:ea typeface="Arial" pitchFamily="34" charset="-122"/>
                <a:cs typeface="Arial" pitchFamily="34" charset="-120"/>
              </a:rPr>
              <a:t>20,000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IMPLEMENTATION</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The network and the system</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11</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pic>
        <p:nvPicPr>
          <p:cNvPr id="9" name="Image 0" descr="/mnt/user-data/outputs/figures/fig3_network.png">    </p:cNvPr>
          <p:cNvPicPr>
            <a:picLocks noChangeAspect="1"/>
          </p:cNvPicPr>
          <p:nvPr/>
        </p:nvPicPr>
        <p:blipFill>
          <a:blip r:embed="rId1"/>
          <a:stretch>
            <a:fillRect/>
          </a:stretch>
        </p:blipFill>
        <p:spPr>
          <a:xfrm>
            <a:off x="548640" y="1371600"/>
            <a:ext cx="7498080" cy="2968980"/>
          </a:xfrm>
          <a:prstGeom prst="rect">
            <a:avLst/>
          </a:prstGeom>
        </p:spPr>
      </p:pic>
      <p:sp>
        <p:nvSpPr>
          <p:cNvPr id="10" name="Text 7"/>
          <p:cNvSpPr txBox="1"/>
          <p:nvPr/>
        </p:nvSpPr>
        <p:spPr>
          <a:xfrm>
            <a:off x="548640" y="4526280"/>
            <a:ext cx="7498080" cy="64008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Scores a (state, word) pair, so it can rate words it has never seen, and the pool can grow during training.</a:t>
            </a:r>
            <a:endParaRPr lang="en-US" sz="1400" dirty="0"/>
          </a:p>
        </p:txBody>
      </p:sp>
      <p:sp>
        <p:nvSpPr>
          <p:cNvPr id="11" name="Shape 8"/>
          <p:cNvSpPr/>
          <p:nvPr/>
        </p:nvSpPr>
        <p:spPr>
          <a:xfrm>
            <a:off x="8458200" y="1371600"/>
            <a:ext cx="3182112" cy="1097280"/>
          </a:xfrm>
          <a:prstGeom prst="roundRect">
            <a:avLst>
              <a:gd name="adj" fmla="val 6667"/>
            </a:avLst>
          </a:prstGeom>
          <a:solidFill>
            <a:srgbClr val="F3F4F5"/>
          </a:solidFill>
          <a:ln w="12700">
            <a:solidFill>
              <a:srgbClr val="F3F4F5"/>
            </a:solidFill>
            <a:prstDash val="solid"/>
          </a:ln>
        </p:spPr>
      </p:sp>
      <p:sp>
        <p:nvSpPr>
          <p:cNvPr id="12" name="Text 9"/>
          <p:cNvSpPr txBox="1"/>
          <p:nvPr/>
        </p:nvSpPr>
        <p:spPr>
          <a:xfrm>
            <a:off x="8686800" y="1499616"/>
            <a:ext cx="2743200" cy="457200"/>
          </a:xfrm>
          <a:prstGeom prst="rect">
            <a:avLst/>
          </a:prstGeom>
          <a:noFill/>
          <a:ln/>
        </p:spPr>
        <p:txBody>
          <a:bodyPr wrap="square" lIns="0" tIns="0" rIns="0" bIns="0" rtlCol="0" anchor="t"/>
          <a:lstStyle/>
          <a:p>
            <a:pPr indent="0" marL="0">
              <a:buNone/>
            </a:pPr>
            <a:r>
              <a:rPr lang="en-US" sz="2100" b="1" dirty="0">
                <a:solidFill>
                  <a:srgbClr val="6AAA64"/>
                </a:solidFill>
                <a:latin typeface="Arial" pitchFamily="34" charset="0"/>
                <a:ea typeface="Arial" pitchFamily="34" charset="-122"/>
                <a:cs typeface="Arial" pitchFamily="34" charset="-120"/>
              </a:rPr>
              <a:t>Python + PyTorch</a:t>
            </a:r>
            <a:endParaRPr lang="en-US" sz="2100" dirty="0"/>
          </a:p>
        </p:txBody>
      </p:sp>
      <p:sp>
        <p:nvSpPr>
          <p:cNvPr id="13" name="Text 10"/>
          <p:cNvSpPr txBox="1"/>
          <p:nvPr/>
        </p:nvSpPr>
        <p:spPr>
          <a:xfrm>
            <a:off x="8686800" y="1956816"/>
            <a:ext cx="2743200" cy="41148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runs on CPU</a:t>
            </a:r>
            <a:endParaRPr lang="en-US" sz="1350" dirty="0"/>
          </a:p>
        </p:txBody>
      </p:sp>
      <p:sp>
        <p:nvSpPr>
          <p:cNvPr id="14" name="Shape 11"/>
          <p:cNvSpPr/>
          <p:nvPr/>
        </p:nvSpPr>
        <p:spPr>
          <a:xfrm>
            <a:off x="8458200" y="2651760"/>
            <a:ext cx="3182112" cy="1097280"/>
          </a:xfrm>
          <a:prstGeom prst="roundRect">
            <a:avLst>
              <a:gd name="adj" fmla="val 6667"/>
            </a:avLst>
          </a:prstGeom>
          <a:solidFill>
            <a:srgbClr val="F3F4F5"/>
          </a:solidFill>
          <a:ln w="12700">
            <a:solidFill>
              <a:srgbClr val="F3F4F5"/>
            </a:solidFill>
            <a:prstDash val="solid"/>
          </a:ln>
        </p:spPr>
      </p:sp>
      <p:sp>
        <p:nvSpPr>
          <p:cNvPr id="15" name="Text 12"/>
          <p:cNvSpPr txBox="1"/>
          <p:nvPr/>
        </p:nvSpPr>
        <p:spPr>
          <a:xfrm>
            <a:off x="8686800" y="2779776"/>
            <a:ext cx="2743200" cy="457200"/>
          </a:xfrm>
          <a:prstGeom prst="rect">
            <a:avLst/>
          </a:prstGeom>
          <a:noFill/>
          <a:ln/>
        </p:spPr>
        <p:txBody>
          <a:bodyPr wrap="square" lIns="0" tIns="0" rIns="0" bIns="0" rtlCol="0" anchor="t"/>
          <a:lstStyle/>
          <a:p>
            <a:pPr indent="0" marL="0">
              <a:buNone/>
            </a:pPr>
            <a:r>
              <a:rPr lang="en-US" sz="2100" b="1" dirty="0">
                <a:solidFill>
                  <a:srgbClr val="6AAA64"/>
                </a:solidFill>
                <a:latin typeface="Arial" pitchFamily="34" charset="0"/>
                <a:ea typeface="Arial" pitchFamily="34" charset="-122"/>
                <a:cs typeface="Arial" pitchFamily="34" charset="-120"/>
              </a:rPr>
              <a:t>31.9 min</a:t>
            </a:r>
            <a:endParaRPr lang="en-US" sz="2100" dirty="0"/>
          </a:p>
        </p:txBody>
      </p:sp>
      <p:sp>
        <p:nvSpPr>
          <p:cNvPr id="16" name="Text 13"/>
          <p:cNvSpPr txBox="1"/>
          <p:nvPr/>
        </p:nvSpPr>
        <p:spPr>
          <a:xfrm>
            <a:off x="8686800" y="3236976"/>
            <a:ext cx="2743200" cy="41148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for 20,000 episodes</a:t>
            </a:r>
            <a:endParaRPr lang="en-US" sz="1350" dirty="0"/>
          </a:p>
        </p:txBody>
      </p:sp>
      <p:sp>
        <p:nvSpPr>
          <p:cNvPr id="17" name="Shape 14"/>
          <p:cNvSpPr/>
          <p:nvPr/>
        </p:nvSpPr>
        <p:spPr>
          <a:xfrm>
            <a:off x="8458200" y="3931920"/>
            <a:ext cx="3182112" cy="1097280"/>
          </a:xfrm>
          <a:prstGeom prst="roundRect">
            <a:avLst>
              <a:gd name="adj" fmla="val 6667"/>
            </a:avLst>
          </a:prstGeom>
          <a:solidFill>
            <a:srgbClr val="F3F4F5"/>
          </a:solidFill>
          <a:ln w="12700">
            <a:solidFill>
              <a:srgbClr val="F3F4F5"/>
            </a:solidFill>
            <a:prstDash val="solid"/>
          </a:ln>
        </p:spPr>
      </p:sp>
      <p:sp>
        <p:nvSpPr>
          <p:cNvPr id="18" name="Text 15"/>
          <p:cNvSpPr txBox="1"/>
          <p:nvPr/>
        </p:nvSpPr>
        <p:spPr>
          <a:xfrm>
            <a:off x="8686800" y="4059936"/>
            <a:ext cx="2743200" cy="457200"/>
          </a:xfrm>
          <a:prstGeom prst="rect">
            <a:avLst/>
          </a:prstGeom>
          <a:noFill/>
          <a:ln/>
        </p:spPr>
        <p:txBody>
          <a:bodyPr wrap="square" lIns="0" tIns="0" rIns="0" bIns="0" rtlCol="0" anchor="t"/>
          <a:lstStyle/>
          <a:p>
            <a:pPr indent="0" marL="0">
              <a:buNone/>
            </a:pPr>
            <a:r>
              <a:rPr lang="en-US" sz="2100" b="1" dirty="0">
                <a:solidFill>
                  <a:srgbClr val="6AAA64"/>
                </a:solidFill>
                <a:latin typeface="Arial" pitchFamily="34" charset="0"/>
                <a:ea typeface="Arial" pitchFamily="34" charset="-122"/>
                <a:cs typeface="Arial" pitchFamily="34" charset="-120"/>
              </a:rPr>
              <a:t>5 layers</a:t>
            </a:r>
            <a:endParaRPr lang="en-US" sz="2100" dirty="0"/>
          </a:p>
        </p:txBody>
      </p:sp>
      <p:sp>
        <p:nvSpPr>
          <p:cNvPr id="19" name="Text 16"/>
          <p:cNvSpPr txBox="1"/>
          <p:nvPr/>
        </p:nvSpPr>
        <p:spPr>
          <a:xfrm>
            <a:off x="8686800" y="4517136"/>
            <a:ext cx="2743200" cy="411480"/>
          </a:xfrm>
          <a:prstGeom prst="rect">
            <a:avLst/>
          </a:prstGeom>
          <a:noFill/>
          <a:ln/>
        </p:spPr>
        <p:txBody>
          <a:bodyPr wrap="square" lIns="0" tIns="0" rIns="0" bIns="0" rtlCol="0" anchor="t"/>
          <a:lstStyle/>
          <a:p>
            <a:pPr indent="0" marL="0">
              <a:buNone/>
            </a:pPr>
            <a:r>
              <a:rPr lang="en-US" sz="1350" dirty="0">
                <a:solidFill>
                  <a:srgbClr val="5F6368"/>
                </a:solidFill>
                <a:latin typeface="Arial" pitchFamily="34" charset="0"/>
                <a:ea typeface="Arial" pitchFamily="34" charset="-122"/>
                <a:cs typeface="Arial" pitchFamily="34" charset="-120"/>
              </a:rPr>
              <a:t>data, core, training, analysis, tools</a:t>
            </a:r>
            <a:endParaRPr lang="en-US" sz="1350" dirty="0"/>
          </a:p>
        </p:txBody>
      </p:sp>
      <p:sp>
        <p:nvSpPr>
          <p:cNvPr id="20" name="Shape 17"/>
          <p:cNvSpPr/>
          <p:nvPr/>
        </p:nvSpPr>
        <p:spPr>
          <a:xfrm>
            <a:off x="548640" y="5349240"/>
            <a:ext cx="11091672" cy="731520"/>
          </a:xfrm>
          <a:prstGeom prst="roundRect">
            <a:avLst>
              <a:gd name="adj" fmla="val 10000"/>
            </a:avLst>
          </a:prstGeom>
          <a:solidFill>
            <a:srgbClr val="FBF6E6"/>
          </a:solidFill>
          <a:ln w="12700">
            <a:solidFill>
              <a:srgbClr val="FBF6E6"/>
            </a:solidFill>
            <a:prstDash val="solid"/>
          </a:ln>
        </p:spPr>
      </p:sp>
      <p:sp>
        <p:nvSpPr>
          <p:cNvPr id="21" name="Text 18"/>
          <p:cNvSpPr txBox="1"/>
          <p:nvPr/>
        </p:nvSpPr>
        <p:spPr>
          <a:xfrm>
            <a:off x="822960" y="5349240"/>
            <a:ext cx="10607040" cy="731520"/>
          </a:xfrm>
          <a:prstGeom prst="rect">
            <a:avLst/>
          </a:prstGeom>
          <a:noFill/>
          <a:ln/>
        </p:spPr>
        <p:txBody>
          <a:bodyPr wrap="square" lIns="0" tIns="0" rIns="0" bIns="0" rtlCol="0" anchor="ctr"/>
          <a:lstStyle/>
          <a:p>
            <a:pPr indent="0" marL="0">
              <a:buNone/>
            </a:pPr>
            <a:r>
              <a:rPr lang="en-US" sz="1450" dirty="0">
                <a:solidFill>
                  <a:srgbClr val="1A1A1B"/>
                </a:solidFill>
                <a:latin typeface="Arial" pitchFamily="34" charset="0"/>
                <a:ea typeface="Arial" pitchFamily="34" charset="-122"/>
                <a:cs typeface="Arial" pitchFamily="34" charset="-120"/>
              </a:rPr>
              <a:t>Includes a live animated dashboard, benchmarking tools, and an assistant that suggests guesses for the real NYT Wordle.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RESULTS</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Win rate across three word-pool sizes</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12</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graphicFrame>
        <p:nvGraphicFramePr>
          <p:cNvPr id="9" name="Chart 0" descr=""/>
          <p:cNvGraphicFramePr/>
          <p:nvPr/>
        </p:nvGraphicFramePr>
        <p:xfrm>
          <a:off x="548640" y="1371600"/>
          <a:ext cx="7040880" cy="475488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7909560" y="1417320"/>
            <a:ext cx="3730752" cy="2194560"/>
          </a:xfrm>
          <a:prstGeom prst="roundRect">
            <a:avLst>
              <a:gd name="adj" fmla="val 3333"/>
            </a:avLst>
          </a:prstGeom>
          <a:solidFill>
            <a:srgbClr val="EAF3E9"/>
          </a:solidFill>
          <a:ln w="12700">
            <a:solidFill>
              <a:srgbClr val="EAF3E9"/>
            </a:solidFill>
            <a:prstDash val="solid"/>
          </a:ln>
        </p:spPr>
      </p:sp>
      <p:sp>
        <p:nvSpPr>
          <p:cNvPr id="11" name="Text 8"/>
          <p:cNvSpPr txBox="1"/>
          <p:nvPr/>
        </p:nvSpPr>
        <p:spPr>
          <a:xfrm>
            <a:off x="8138160" y="1572768"/>
            <a:ext cx="3383280" cy="411480"/>
          </a:xfrm>
          <a:prstGeom prst="rect">
            <a:avLst/>
          </a:prstGeom>
          <a:noFill/>
          <a:ln/>
        </p:spPr>
        <p:txBody>
          <a:bodyPr wrap="square" lIns="0" tIns="0" rIns="0" bIns="0" rtlCol="0" anchor="t"/>
          <a:lstStyle/>
          <a:p>
            <a:pPr indent="0" marL="0">
              <a:buNone/>
            </a:pPr>
            <a:r>
              <a:rPr lang="en-US" sz="1800" b="1" dirty="0">
                <a:solidFill>
                  <a:srgbClr val="6AAA64"/>
                </a:solidFill>
                <a:latin typeface="Arial" pitchFamily="34" charset="0"/>
                <a:ea typeface="Arial" pitchFamily="34" charset="-122"/>
                <a:cs typeface="Arial" pitchFamily="34" charset="-120"/>
              </a:rPr>
              <a:t>✓ Beats the floor</a:t>
            </a:r>
            <a:endParaRPr lang="en-US" sz="1800" dirty="0"/>
          </a:p>
        </p:txBody>
      </p:sp>
      <p:sp>
        <p:nvSpPr>
          <p:cNvPr id="12" name="Text 9"/>
          <p:cNvSpPr txBox="1"/>
          <p:nvPr/>
        </p:nvSpPr>
        <p:spPr>
          <a:xfrm>
            <a:off x="8138160" y="2011680"/>
            <a:ext cx="3337560" cy="1508760"/>
          </a:xfrm>
          <a:prstGeom prst="rect">
            <a:avLst/>
          </a:prstGeom>
          <a:noFill/>
          <a:ln/>
        </p:spPr>
        <p:txBody>
          <a:bodyPr wrap="square" lIns="0" tIns="0" rIns="0" bIns="0" rtlCol="0" anchor="t"/>
          <a:lstStyle/>
          <a:p>
            <a:pPr indent="0" marL="0">
              <a:buNone/>
            </a:pPr>
            <a:r>
              <a:rPr lang="en-US" sz="1350" dirty="0">
                <a:solidFill>
                  <a:srgbClr val="1A1A1B"/>
                </a:solidFill>
                <a:latin typeface="Arial" pitchFamily="34" charset="0"/>
                <a:ea typeface="Arial" pitchFamily="34" charset="-122"/>
                <a:cs typeface="Arial" pitchFamily="34" charset="-120"/>
              </a:rPr>
              <a:t>DQN beats random-over-mask at every pool size. Since that is our own agent before learning, the network adds real value.</a:t>
            </a:r>
            <a:endParaRPr lang="en-US" sz="1350" dirty="0"/>
          </a:p>
        </p:txBody>
      </p:sp>
      <p:sp>
        <p:nvSpPr>
          <p:cNvPr id="13" name="Shape 10"/>
          <p:cNvSpPr/>
          <p:nvPr/>
        </p:nvSpPr>
        <p:spPr>
          <a:xfrm>
            <a:off x="7909560" y="3794760"/>
            <a:ext cx="3730752" cy="2194560"/>
          </a:xfrm>
          <a:prstGeom prst="roundRect">
            <a:avLst>
              <a:gd name="adj" fmla="val 3333"/>
            </a:avLst>
          </a:prstGeom>
          <a:solidFill>
            <a:srgbClr val="F3F4F5"/>
          </a:solidFill>
          <a:ln w="12700">
            <a:solidFill>
              <a:srgbClr val="F3F4F5"/>
            </a:solidFill>
            <a:prstDash val="solid"/>
          </a:ln>
        </p:spPr>
      </p:sp>
      <p:sp>
        <p:nvSpPr>
          <p:cNvPr id="14" name="Text 11"/>
          <p:cNvSpPr txBox="1"/>
          <p:nvPr/>
        </p:nvSpPr>
        <p:spPr>
          <a:xfrm>
            <a:off x="8138160" y="3950208"/>
            <a:ext cx="3383280" cy="411480"/>
          </a:xfrm>
          <a:prstGeom prst="rect">
            <a:avLst/>
          </a:prstGeom>
          <a:noFill/>
          <a:ln/>
        </p:spPr>
        <p:txBody>
          <a:bodyPr wrap="square" lIns="0" tIns="0" rIns="0" bIns="0" rtlCol="0" anchor="t"/>
          <a:lstStyle/>
          <a:p>
            <a:pPr indent="0" marL="0">
              <a:buNone/>
            </a:pPr>
            <a:r>
              <a:rPr lang="en-US" sz="1800" b="1" dirty="0">
                <a:solidFill>
                  <a:srgbClr val="B03A3A"/>
                </a:solidFill>
                <a:latin typeface="Arial" pitchFamily="34" charset="0"/>
                <a:ea typeface="Arial" pitchFamily="34" charset="-122"/>
                <a:cs typeface="Arial" pitchFamily="34" charset="-120"/>
              </a:rPr>
              <a:t>✗ Trails the ceiling</a:t>
            </a:r>
            <a:endParaRPr lang="en-US" sz="1800" dirty="0"/>
          </a:p>
        </p:txBody>
      </p:sp>
      <p:sp>
        <p:nvSpPr>
          <p:cNvPr id="15" name="Text 12"/>
          <p:cNvSpPr txBox="1"/>
          <p:nvPr/>
        </p:nvSpPr>
        <p:spPr>
          <a:xfrm>
            <a:off x="8138160" y="4389120"/>
            <a:ext cx="3337560" cy="1508760"/>
          </a:xfrm>
          <a:prstGeom prst="rect">
            <a:avLst/>
          </a:prstGeom>
          <a:noFill/>
          <a:ln/>
        </p:spPr>
        <p:txBody>
          <a:bodyPr wrap="square" lIns="0" tIns="0" rIns="0" bIns="0" rtlCol="0" anchor="t"/>
          <a:lstStyle/>
          <a:p>
            <a:pPr indent="0" marL="0">
              <a:buNone/>
            </a:pPr>
            <a:r>
              <a:rPr lang="en-US" sz="1350" dirty="0">
                <a:solidFill>
                  <a:srgbClr val="1A1A1B"/>
                </a:solidFill>
                <a:latin typeface="Arial" pitchFamily="34" charset="0"/>
                <a:ea typeface="Arial" pitchFamily="34" charset="-122"/>
                <a:cs typeface="Arial" pitchFamily="34" charset="-120"/>
              </a:rPr>
              <a:t>The heuristic stays near 100%. Our gap grows with pool size: 1 → 11 → 30 points.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KEY FINDING</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A bug in our own environment</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13</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sp>
        <p:nvSpPr>
          <p:cNvPr id="9" name="Text 7"/>
          <p:cNvSpPr txBox="1"/>
          <p:nvPr/>
        </p:nvSpPr>
        <p:spPr>
          <a:xfrm>
            <a:off x="548640" y="1508760"/>
            <a:ext cx="502920" cy="502920"/>
          </a:xfrm>
          <a:prstGeom prst="roundRect">
            <a:avLst>
              <a:gd name="adj" fmla="val 10909"/>
            </a:avLst>
          </a:prstGeom>
          <a:solidFill>
            <a:srgbClr val="C9B458"/>
          </a:solidFill>
          <a:ln>
            <a:solidFill>
              <a:srgbClr val="C9B458"/>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8"/>
          <p:cNvSpPr txBox="1"/>
          <p:nvPr/>
        </p:nvSpPr>
        <p:spPr>
          <a:xfrm>
            <a:off x="1280160" y="1463040"/>
            <a:ext cx="484632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What happened</a:t>
            </a:r>
            <a:endParaRPr lang="en-US" sz="1700" dirty="0"/>
          </a:p>
        </p:txBody>
      </p:sp>
      <p:sp>
        <p:nvSpPr>
          <p:cNvPr id="11" name="Text 9"/>
          <p:cNvSpPr txBox="1"/>
          <p:nvPr/>
        </p:nvSpPr>
        <p:spPr>
          <a:xfrm>
            <a:off x="1280160" y="1874520"/>
            <a:ext cx="4846320" cy="86868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A letter repeated in a guess could be marked both "present" and "absent" at the same time.</a:t>
            </a:r>
            <a:endParaRPr lang="en-US" sz="1400" dirty="0"/>
          </a:p>
        </p:txBody>
      </p:sp>
      <p:sp>
        <p:nvSpPr>
          <p:cNvPr id="12" name="Text 10"/>
          <p:cNvSpPr txBox="1"/>
          <p:nvPr/>
        </p:nvSpPr>
        <p:spPr>
          <a:xfrm>
            <a:off x="548640" y="2880360"/>
            <a:ext cx="502920" cy="502920"/>
          </a:xfrm>
          <a:prstGeom prst="roundRect">
            <a:avLst>
              <a:gd name="adj" fmla="val 10909"/>
            </a:avLst>
          </a:prstGeom>
          <a:solidFill>
            <a:srgbClr val="787C7E"/>
          </a:solidFill>
          <a:ln>
            <a:solidFill>
              <a:srgbClr val="787C7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1280160" y="2834640"/>
            <a:ext cx="484632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The effect</a:t>
            </a:r>
            <a:endParaRPr lang="en-US" sz="1700" dirty="0"/>
          </a:p>
        </p:txBody>
      </p:sp>
      <p:sp>
        <p:nvSpPr>
          <p:cNvPr id="14" name="Text 12"/>
          <p:cNvSpPr txBox="1"/>
          <p:nvPr/>
        </p:nvSpPr>
        <p:spPr>
          <a:xfrm>
            <a:off x="1280160" y="3246120"/>
            <a:ext cx="4846320" cy="86868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No word fits both, so the mask emptied and fell back to allowing every word. The agent played blind.</a:t>
            </a:r>
            <a:endParaRPr lang="en-US" sz="1400" dirty="0"/>
          </a:p>
        </p:txBody>
      </p:sp>
      <p:sp>
        <p:nvSpPr>
          <p:cNvPr id="15" name="Text 13"/>
          <p:cNvSpPr txBox="1"/>
          <p:nvPr/>
        </p:nvSpPr>
        <p:spPr>
          <a:xfrm>
            <a:off x="548640" y="4251960"/>
            <a:ext cx="502920" cy="502920"/>
          </a:xfrm>
          <a:prstGeom prst="roundRect">
            <a:avLst>
              <a:gd name="adj" fmla="val 10909"/>
            </a:avLst>
          </a:prstGeom>
          <a:solidFill>
            <a:srgbClr val="6AAA64"/>
          </a:solidFill>
          <a:ln>
            <a:solidFill>
              <a:srgbClr val="6AAA64"/>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4"/>
          <p:cNvSpPr txBox="1"/>
          <p:nvPr/>
        </p:nvSpPr>
        <p:spPr>
          <a:xfrm>
            <a:off x="1280160" y="4206240"/>
            <a:ext cx="484632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How often</a:t>
            </a:r>
            <a:endParaRPr lang="en-US" sz="1700" dirty="0"/>
          </a:p>
        </p:txBody>
      </p:sp>
      <p:sp>
        <p:nvSpPr>
          <p:cNvPr id="17" name="Text 15"/>
          <p:cNvSpPr txBox="1"/>
          <p:nvPr/>
        </p:nvSpPr>
        <p:spPr>
          <a:xfrm>
            <a:off x="1280160" y="4617720"/>
            <a:ext cx="4846320" cy="86868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About 1 episode in 5 on the largest pool.</a:t>
            </a:r>
            <a:endParaRPr lang="en-US" sz="1400" dirty="0"/>
          </a:p>
        </p:txBody>
      </p:sp>
      <p:graphicFrame>
        <p:nvGraphicFramePr>
          <p:cNvPr id="18" name="Chart 0" descr=""/>
          <p:cNvGraphicFramePr/>
          <p:nvPr/>
        </p:nvGraphicFramePr>
        <p:xfrm>
          <a:off x="6400800" y="1371600"/>
          <a:ext cx="5239512" cy="374904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6400800" y="5257800"/>
            <a:ext cx="5239512" cy="868680"/>
          </a:xfrm>
          <a:prstGeom prst="roundRect">
            <a:avLst>
              <a:gd name="adj" fmla="val 8421"/>
            </a:avLst>
          </a:prstGeom>
          <a:solidFill>
            <a:srgbClr val="121213"/>
          </a:solidFill>
          <a:ln w="12700">
            <a:solidFill>
              <a:srgbClr val="121213"/>
            </a:solidFill>
            <a:prstDash val="solid"/>
          </a:ln>
        </p:spPr>
      </p:sp>
      <p:sp>
        <p:nvSpPr>
          <p:cNvPr id="20" name="Text 17"/>
          <p:cNvSpPr txBox="1"/>
          <p:nvPr/>
        </p:nvSpPr>
        <p:spPr>
          <a:xfrm>
            <a:off x="6629400" y="5257800"/>
            <a:ext cx="2560320" cy="868680"/>
          </a:xfrm>
          <a:prstGeom prst="rect">
            <a:avLst/>
          </a:prstGeom>
          <a:noFill/>
          <a:ln/>
        </p:spPr>
        <p:txBody>
          <a:bodyPr wrap="square" lIns="0" tIns="0" rIns="0" bIns="0" rtlCol="0" anchor="ctr"/>
          <a:lstStyle/>
          <a:p>
            <a:pPr indent="0" marL="0">
              <a:buNone/>
            </a:pPr>
            <a:r>
              <a:rPr lang="en-US" sz="3000" b="1" dirty="0">
                <a:solidFill>
                  <a:srgbClr val="6AAA64"/>
                </a:solidFill>
                <a:latin typeface="Arial" pitchFamily="34" charset="0"/>
                <a:ea typeface="Arial" pitchFamily="34" charset="-122"/>
                <a:cs typeface="Arial" pitchFamily="34" charset="-120"/>
              </a:rPr>
              <a:t>+16.8 points</a:t>
            </a:r>
            <a:endParaRPr lang="en-US" sz="3000" dirty="0"/>
          </a:p>
        </p:txBody>
      </p:sp>
      <p:sp>
        <p:nvSpPr>
          <p:cNvPr id="21" name="Text 18"/>
          <p:cNvSpPr txBox="1"/>
          <p:nvPr/>
        </p:nvSpPr>
        <p:spPr>
          <a:xfrm>
            <a:off x="9098280" y="5257800"/>
            <a:ext cx="2423160" cy="868680"/>
          </a:xfrm>
          <a:prstGeom prst="rect">
            <a:avLst/>
          </a:prstGeom>
          <a:noFill/>
          <a:ln/>
        </p:spPr>
        <p:txBody>
          <a:bodyPr wrap="square" lIns="0" tIns="0" rIns="0" bIns="0" rtlCol="0" anchor="ctr"/>
          <a:lstStyle/>
          <a:p>
            <a:pPr indent="0" marL="0">
              <a:buNone/>
            </a:pPr>
            <a:r>
              <a:rPr lang="en-US" sz="1250" dirty="0">
                <a:solidFill>
                  <a:srgbClr val="E8EAED"/>
                </a:solidFill>
                <a:latin typeface="Arial" pitchFamily="34" charset="0"/>
                <a:ea typeface="Arial" pitchFamily="34" charset="-122"/>
                <a:cs typeface="Arial" pitchFamily="34" charset="-120"/>
              </a:rPr>
              <a:t>on the 8,636-word pool from fixing one line of logic</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274320" cy="274320"/>
          </a:xfrm>
          <a:prstGeom prst="roundRect">
            <a:avLst>
              <a:gd name="adj" fmla="val 20000"/>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868680" y="603504"/>
            <a:ext cx="274320" cy="274320"/>
          </a:xfrm>
          <a:prstGeom prst="roundRect">
            <a:avLst>
              <a:gd name="adj" fmla="val 20000"/>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188720" y="603504"/>
            <a:ext cx="274320" cy="274320"/>
          </a:xfrm>
          <a:prstGeom prst="roundRect">
            <a:avLst>
              <a:gd name="adj" fmla="val 20000"/>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1627632" y="274320"/>
            <a:ext cx="9144000" cy="292608"/>
          </a:xfrm>
          <a:prstGeom prst="rect">
            <a:avLst/>
          </a:prstGeom>
          <a:noFill/>
          <a:ln/>
        </p:spPr>
        <p:txBody>
          <a:bodyPr wrap="square" lIns="0" tIns="0" rIns="0" bIns="0" rtlCol="0" anchor="ctr"/>
          <a:lstStyle/>
          <a:p>
            <a:pPr indent="0" marL="0">
              <a:buNone/>
            </a:pPr>
            <a:r>
              <a:rPr lang="en-US" sz="1100" b="1" spc="200" kern="0" dirty="0">
                <a:solidFill>
                  <a:srgbClr val="5F6368"/>
                </a:solidFill>
                <a:latin typeface="Arial" pitchFamily="34" charset="0"/>
                <a:ea typeface="Arial" pitchFamily="34" charset="-122"/>
                <a:cs typeface="Arial" pitchFamily="34" charset="-120"/>
              </a:rPr>
              <a:t>VALIDATING THE PIPELINE</a:t>
            </a:r>
            <a:endParaRPr lang="en-US" sz="1100" dirty="0"/>
          </a:p>
        </p:txBody>
      </p:sp>
      <p:sp>
        <p:nvSpPr>
          <p:cNvPr id="6" name="Text 4"/>
          <p:cNvSpPr txBox="1"/>
          <p:nvPr/>
        </p:nvSpPr>
        <p:spPr>
          <a:xfrm>
            <a:off x="1627632" y="512064"/>
            <a:ext cx="10058400" cy="566928"/>
          </a:xfrm>
          <a:prstGeom prst="rect">
            <a:avLst/>
          </a:prstGeom>
          <a:noFill/>
          <a:ln/>
        </p:spPr>
        <p:txBody>
          <a:bodyPr wrap="square" lIns="0" tIns="0" rIns="0" bIns="0" rtlCol="0" anchor="ctr"/>
          <a:lstStyle/>
          <a:p>
            <a:pPr indent="0" marL="0">
              <a:buNone/>
            </a:pPr>
            <a:r>
              <a:rPr lang="en-US" sz="3000" b="1" dirty="0">
                <a:solidFill>
                  <a:srgbClr val="1A1A1B"/>
                </a:solidFill>
                <a:latin typeface="Arial" pitchFamily="34" charset="0"/>
                <a:ea typeface="Arial" pitchFamily="34" charset="-122"/>
                <a:cs typeface="Arial" pitchFamily="34" charset="-120"/>
              </a:rPr>
              <a:t>Every measurement error we found was optimistic</a:t>
            </a:r>
            <a:endParaRPr lang="en-US" sz="3000" dirty="0"/>
          </a:p>
        </p:txBody>
      </p:sp>
      <p:sp>
        <p:nvSpPr>
          <p:cNvPr id="7" name="Text 5"/>
          <p:cNvSpPr txBox="1"/>
          <p:nvPr/>
        </p:nvSpPr>
        <p:spPr>
          <a:xfrm>
            <a:off x="11183112" y="6355080"/>
            <a:ext cx="457200" cy="274320"/>
          </a:xfrm>
          <a:prstGeom prst="rect">
            <a:avLst/>
          </a:prstGeom>
          <a:noFill/>
          <a:ln/>
        </p:spPr>
        <p:txBody>
          <a:bodyPr wrap="square" lIns="0" tIns="0" rIns="0" bIns="0" rtlCol="0" anchor="ctr"/>
          <a:lstStyle/>
          <a:p>
            <a:pPr algn="r" indent="0" marL="0">
              <a:buNone/>
            </a:pPr>
            <a:r>
              <a:rPr lang="en-US" sz="1000" dirty="0">
                <a:solidFill>
                  <a:srgbClr val="787C7E"/>
                </a:solidFill>
                <a:latin typeface="Arial" pitchFamily="34" charset="0"/>
                <a:ea typeface="Arial" pitchFamily="34" charset="-122"/>
                <a:cs typeface="Arial" pitchFamily="34" charset="-120"/>
              </a:rPr>
              <a:t>14</a:t>
            </a:r>
            <a:endParaRPr lang="en-US" sz="1000" dirty="0"/>
          </a:p>
        </p:txBody>
      </p:sp>
      <p:sp>
        <p:nvSpPr>
          <p:cNvPr id="8" name="Text 6"/>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787C7E"/>
                </a:solidFill>
                <a:latin typeface="Arial" pitchFamily="34" charset="0"/>
                <a:ea typeface="Arial" pitchFamily="34" charset="-122"/>
                <a:cs typeface="Arial" pitchFamily="34" charset="-120"/>
              </a:rPr>
              <a:t>RL for Wordle  ·  Final Project</a:t>
            </a:r>
            <a:endParaRPr lang="en-US" sz="1000" dirty="0"/>
          </a:p>
        </p:txBody>
      </p:sp>
      <p:sp>
        <p:nvSpPr>
          <p:cNvPr id="9" name="Shape 7"/>
          <p:cNvSpPr/>
          <p:nvPr/>
        </p:nvSpPr>
        <p:spPr>
          <a:xfrm>
            <a:off x="548640" y="1463040"/>
            <a:ext cx="5449824" cy="1828800"/>
          </a:xfrm>
          <a:prstGeom prst="roundRect">
            <a:avLst>
              <a:gd name="adj" fmla="val 4000"/>
            </a:avLst>
          </a:prstGeom>
          <a:solidFill>
            <a:srgbClr val="F3F4F5"/>
          </a:solidFill>
          <a:ln w="12700">
            <a:solidFill>
              <a:srgbClr val="F3F4F5"/>
            </a:solidFill>
            <a:prstDash val="solid"/>
          </a:ln>
        </p:spPr>
      </p:sp>
      <p:sp>
        <p:nvSpPr>
          <p:cNvPr id="10" name="Text 8"/>
          <p:cNvSpPr txBox="1"/>
          <p:nvPr/>
        </p:nvSpPr>
        <p:spPr>
          <a:xfrm>
            <a:off x="822960" y="1664208"/>
            <a:ext cx="493776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Benchmark sampling</a:t>
            </a:r>
            <a:endParaRPr lang="en-US" sz="1700" dirty="0"/>
          </a:p>
        </p:txBody>
      </p:sp>
      <p:sp>
        <p:nvSpPr>
          <p:cNvPr id="11" name="Text 9"/>
          <p:cNvSpPr txBox="1"/>
          <p:nvPr/>
        </p:nvSpPr>
        <p:spPr>
          <a:xfrm>
            <a:off x="822960" y="2084832"/>
            <a:ext cx="4937760" cy="59436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Took the first N words alphabetically, not a random sample.</a:t>
            </a:r>
            <a:endParaRPr lang="en-US" sz="1400" dirty="0"/>
          </a:p>
        </p:txBody>
      </p:sp>
      <p:sp>
        <p:nvSpPr>
          <p:cNvPr id="12" name="Text 10"/>
          <p:cNvSpPr txBox="1"/>
          <p:nvPr/>
        </p:nvSpPr>
        <p:spPr>
          <a:xfrm>
            <a:off x="822960" y="2743200"/>
            <a:ext cx="4937760" cy="365760"/>
          </a:xfrm>
          <a:prstGeom prst="rect">
            <a:avLst/>
          </a:prstGeom>
          <a:noFill/>
          <a:ln/>
        </p:spPr>
        <p:txBody>
          <a:bodyPr wrap="square" lIns="0" tIns="0" rIns="0" bIns="0" rtlCol="0" anchor="t"/>
          <a:lstStyle/>
          <a:p>
            <a:pPr indent="0" marL="0">
              <a:buNone/>
            </a:pPr>
            <a:r>
              <a:rPr lang="en-US" sz="1400" b="1" dirty="0">
                <a:solidFill>
                  <a:srgbClr val="B03A3A"/>
                </a:solidFill>
                <a:latin typeface="Arial" pitchFamily="34" charset="0"/>
                <a:ea typeface="Arial" pitchFamily="34" charset="-122"/>
                <a:cs typeface="Arial" pitchFamily="34" charset="-120"/>
              </a:rPr>
              <a:t>92.4% on first 500  vs  69.4% on all</a:t>
            </a:r>
            <a:endParaRPr lang="en-US" sz="1400" dirty="0"/>
          </a:p>
        </p:txBody>
      </p:sp>
      <p:sp>
        <p:nvSpPr>
          <p:cNvPr id="13" name="Shape 11"/>
          <p:cNvSpPr/>
          <p:nvPr/>
        </p:nvSpPr>
        <p:spPr>
          <a:xfrm>
            <a:off x="6190488" y="1463040"/>
            <a:ext cx="5449824" cy="1828800"/>
          </a:xfrm>
          <a:prstGeom prst="roundRect">
            <a:avLst>
              <a:gd name="adj" fmla="val 4000"/>
            </a:avLst>
          </a:prstGeom>
          <a:solidFill>
            <a:srgbClr val="F3F4F5"/>
          </a:solidFill>
          <a:ln w="12700">
            <a:solidFill>
              <a:srgbClr val="F3F4F5"/>
            </a:solidFill>
            <a:prstDash val="solid"/>
          </a:ln>
        </p:spPr>
      </p:sp>
      <p:sp>
        <p:nvSpPr>
          <p:cNvPr id="14" name="Text 12"/>
          <p:cNvSpPr txBox="1"/>
          <p:nvPr/>
        </p:nvSpPr>
        <p:spPr>
          <a:xfrm>
            <a:off x="6464808" y="1664208"/>
            <a:ext cx="493776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Out-of-distribution test</a:t>
            </a:r>
            <a:endParaRPr lang="en-US" sz="1700" dirty="0"/>
          </a:p>
        </p:txBody>
      </p:sp>
      <p:sp>
        <p:nvSpPr>
          <p:cNvPr id="15" name="Text 13"/>
          <p:cNvSpPr txBox="1"/>
          <p:nvPr/>
        </p:nvSpPr>
        <p:spPr>
          <a:xfrm>
            <a:off x="6464808" y="2084832"/>
            <a:ext cx="4937760" cy="59436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Answer was never a legal action, so it could only ever score 0%.</a:t>
            </a:r>
            <a:endParaRPr lang="en-US" sz="1400" dirty="0"/>
          </a:p>
        </p:txBody>
      </p:sp>
      <p:sp>
        <p:nvSpPr>
          <p:cNvPr id="16" name="Text 14"/>
          <p:cNvSpPr txBox="1"/>
          <p:nvPr/>
        </p:nvSpPr>
        <p:spPr>
          <a:xfrm>
            <a:off x="6464808" y="2743200"/>
            <a:ext cx="4937760" cy="365760"/>
          </a:xfrm>
          <a:prstGeom prst="rect">
            <a:avLst/>
          </a:prstGeom>
          <a:noFill/>
          <a:ln/>
        </p:spPr>
        <p:txBody>
          <a:bodyPr wrap="square" lIns="0" tIns="0" rIns="0" bIns="0" rtlCol="0" anchor="t"/>
          <a:lstStyle/>
          <a:p>
            <a:pPr indent="0" marL="0">
              <a:buNone/>
            </a:pPr>
            <a:r>
              <a:rPr lang="en-US" sz="1400" b="1" dirty="0">
                <a:solidFill>
                  <a:srgbClr val="B03A3A"/>
                </a:solidFill>
                <a:latin typeface="Arial" pitchFamily="34" charset="0"/>
                <a:ea typeface="Arial" pitchFamily="34" charset="-122"/>
                <a:cs typeface="Arial" pitchFamily="34" charset="-120"/>
              </a:rPr>
              <a:t>Claim withdrawn</a:t>
            </a:r>
            <a:endParaRPr lang="en-US" sz="1400" dirty="0"/>
          </a:p>
        </p:txBody>
      </p:sp>
      <p:sp>
        <p:nvSpPr>
          <p:cNvPr id="17" name="Shape 15"/>
          <p:cNvSpPr/>
          <p:nvPr/>
        </p:nvSpPr>
        <p:spPr>
          <a:xfrm>
            <a:off x="548640" y="3474720"/>
            <a:ext cx="5449824" cy="1828800"/>
          </a:xfrm>
          <a:prstGeom prst="roundRect">
            <a:avLst>
              <a:gd name="adj" fmla="val 4000"/>
            </a:avLst>
          </a:prstGeom>
          <a:solidFill>
            <a:srgbClr val="F3F4F5"/>
          </a:solidFill>
          <a:ln w="12700">
            <a:solidFill>
              <a:srgbClr val="F3F4F5"/>
            </a:solidFill>
            <a:prstDash val="solid"/>
          </a:ln>
        </p:spPr>
      </p:sp>
      <p:sp>
        <p:nvSpPr>
          <p:cNvPr id="18" name="Text 16"/>
          <p:cNvSpPr txBox="1"/>
          <p:nvPr/>
        </p:nvSpPr>
        <p:spPr>
          <a:xfrm>
            <a:off x="822960" y="3675888"/>
            <a:ext cx="493776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Training curve</a:t>
            </a:r>
            <a:endParaRPr lang="en-US" sz="1700" dirty="0"/>
          </a:p>
        </p:txBody>
      </p:sp>
      <p:sp>
        <p:nvSpPr>
          <p:cNvPr id="19" name="Text 17"/>
          <p:cNvSpPr txBox="1"/>
          <p:nvPr/>
        </p:nvSpPr>
        <p:spPr>
          <a:xfrm>
            <a:off x="822960" y="4096512"/>
            <a:ext cx="4937760" cy="59436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Checked the same 50 words at every checkpoint.</a:t>
            </a:r>
            <a:endParaRPr lang="en-US" sz="1400" dirty="0"/>
          </a:p>
        </p:txBody>
      </p:sp>
      <p:sp>
        <p:nvSpPr>
          <p:cNvPr id="20" name="Text 18"/>
          <p:cNvSpPr txBox="1"/>
          <p:nvPr/>
        </p:nvSpPr>
        <p:spPr>
          <a:xfrm>
            <a:off x="822960" y="4754880"/>
            <a:ext cx="4937760" cy="365760"/>
          </a:xfrm>
          <a:prstGeom prst="rect">
            <a:avLst/>
          </a:prstGeom>
          <a:noFill/>
          <a:ln/>
        </p:spPr>
        <p:txBody>
          <a:bodyPr wrap="square" lIns="0" tIns="0" rIns="0" bIns="0" rtlCol="0" anchor="t"/>
          <a:lstStyle/>
          <a:p>
            <a:pPr indent="0" marL="0">
              <a:buNone/>
            </a:pPr>
            <a:r>
              <a:rPr lang="en-US" sz="1400" b="1" dirty="0">
                <a:solidFill>
                  <a:srgbClr val="B03A3A"/>
                </a:solidFill>
                <a:latin typeface="Arial" pitchFamily="34" charset="0"/>
                <a:ea typeface="Arial" pitchFamily="34" charset="-122"/>
                <a:cs typeface="Arial" pitchFamily="34" charset="-120"/>
              </a:rPr>
              <a:t>~88% on curve  vs  69.4% real</a:t>
            </a:r>
            <a:endParaRPr lang="en-US" sz="1400" dirty="0"/>
          </a:p>
        </p:txBody>
      </p:sp>
      <p:sp>
        <p:nvSpPr>
          <p:cNvPr id="21" name="Shape 19"/>
          <p:cNvSpPr/>
          <p:nvPr/>
        </p:nvSpPr>
        <p:spPr>
          <a:xfrm>
            <a:off x="6190488" y="3474720"/>
            <a:ext cx="5449824" cy="1828800"/>
          </a:xfrm>
          <a:prstGeom prst="roundRect">
            <a:avLst>
              <a:gd name="adj" fmla="val 4000"/>
            </a:avLst>
          </a:prstGeom>
          <a:solidFill>
            <a:srgbClr val="F3F4F5"/>
          </a:solidFill>
          <a:ln w="12700">
            <a:solidFill>
              <a:srgbClr val="F3F4F5"/>
            </a:solidFill>
            <a:prstDash val="solid"/>
          </a:ln>
        </p:spPr>
      </p:sp>
      <p:sp>
        <p:nvSpPr>
          <p:cNvPr id="22" name="Text 20"/>
          <p:cNvSpPr txBox="1"/>
          <p:nvPr/>
        </p:nvSpPr>
        <p:spPr>
          <a:xfrm>
            <a:off x="6464808" y="3675888"/>
            <a:ext cx="4937760" cy="365760"/>
          </a:xfrm>
          <a:prstGeom prst="rect">
            <a:avLst/>
          </a:prstGeom>
          <a:noFill/>
          <a:ln/>
        </p:spPr>
        <p:txBody>
          <a:bodyPr wrap="square" lIns="0" tIns="0" rIns="0" bIns="0" rtlCol="0" anchor="t"/>
          <a:lstStyle/>
          <a:p>
            <a:pPr indent="0" marL="0">
              <a:buNone/>
            </a:pPr>
            <a:r>
              <a:rPr lang="en-US" sz="1700" b="1" dirty="0">
                <a:solidFill>
                  <a:srgbClr val="1A1A1B"/>
                </a:solidFill>
                <a:latin typeface="Arial" pitchFamily="34" charset="0"/>
                <a:ea typeface="Arial" pitchFamily="34" charset="-122"/>
                <a:cs typeface="Arial" pitchFamily="34" charset="-120"/>
              </a:rPr>
              <a:t>Comparison chart</a:t>
            </a:r>
            <a:endParaRPr lang="en-US" sz="1700" dirty="0"/>
          </a:p>
        </p:txBody>
      </p:sp>
      <p:sp>
        <p:nvSpPr>
          <p:cNvPr id="23" name="Text 21"/>
          <p:cNvSpPr txBox="1"/>
          <p:nvPr/>
        </p:nvSpPr>
        <p:spPr>
          <a:xfrm>
            <a:off x="6464808" y="4096512"/>
            <a:ext cx="4937760" cy="594360"/>
          </a:xfrm>
          <a:prstGeom prst="rect">
            <a:avLst/>
          </a:prstGeom>
          <a:noFill/>
          <a:ln/>
        </p:spPr>
        <p:txBody>
          <a:bodyPr wrap="square" lIns="0" tIns="0" rIns="0" bIns="0" rtlCol="0" anchor="t"/>
          <a:lstStyle/>
          <a:p>
            <a:pPr indent="0" marL="0">
              <a:buNone/>
            </a:pPr>
            <a:r>
              <a:rPr lang="en-US" sz="1400" dirty="0">
                <a:solidFill>
                  <a:srgbClr val="5F6368"/>
                </a:solidFill>
                <a:latin typeface="Arial" pitchFamily="34" charset="0"/>
                <a:ea typeface="Arial" pitchFamily="34" charset="-122"/>
                <a:cs typeface="Arial" pitchFamily="34" charset="-120"/>
              </a:rPr>
              <a:t>Earlier chart values were typed in, not measured.</a:t>
            </a:r>
            <a:endParaRPr lang="en-US" sz="1400" dirty="0"/>
          </a:p>
        </p:txBody>
      </p:sp>
      <p:sp>
        <p:nvSpPr>
          <p:cNvPr id="24" name="Text 22"/>
          <p:cNvSpPr txBox="1"/>
          <p:nvPr/>
        </p:nvSpPr>
        <p:spPr>
          <a:xfrm>
            <a:off x="6464808" y="4754880"/>
            <a:ext cx="4937760" cy="365760"/>
          </a:xfrm>
          <a:prstGeom prst="rect">
            <a:avLst/>
          </a:prstGeom>
          <a:noFill/>
          <a:ln/>
        </p:spPr>
        <p:txBody>
          <a:bodyPr wrap="square" lIns="0" tIns="0" rIns="0" bIns="0" rtlCol="0" anchor="t"/>
          <a:lstStyle/>
          <a:p>
            <a:pPr indent="0" marL="0">
              <a:buNone/>
            </a:pPr>
            <a:r>
              <a:rPr lang="en-US" sz="1400" b="1" dirty="0">
                <a:solidFill>
                  <a:srgbClr val="B03A3A"/>
                </a:solidFill>
                <a:latin typeface="Arial" pitchFamily="34" charset="0"/>
                <a:ea typeface="Arial" pitchFamily="34" charset="-122"/>
                <a:cs typeface="Arial" pitchFamily="34" charset="-120"/>
              </a:rPr>
              <a:t>Replaced with measured chart</a:t>
            </a:r>
            <a:endParaRPr lang="en-US" sz="1400" dirty="0"/>
          </a:p>
        </p:txBody>
      </p:sp>
      <p:sp>
        <p:nvSpPr>
          <p:cNvPr id="25" name="Shape 23"/>
          <p:cNvSpPr/>
          <p:nvPr/>
        </p:nvSpPr>
        <p:spPr>
          <a:xfrm>
            <a:off x="548640" y="5532120"/>
            <a:ext cx="11091672" cy="640080"/>
          </a:xfrm>
          <a:prstGeom prst="roundRect">
            <a:avLst>
              <a:gd name="adj" fmla="val 11429"/>
            </a:avLst>
          </a:prstGeom>
          <a:solidFill>
            <a:srgbClr val="EAF3E9"/>
          </a:solidFill>
          <a:ln w="12700">
            <a:solidFill>
              <a:srgbClr val="EAF3E9"/>
            </a:solidFill>
            <a:prstDash val="solid"/>
          </a:ln>
        </p:spPr>
      </p:sp>
      <p:sp>
        <p:nvSpPr>
          <p:cNvPr id="26" name="Text 24"/>
          <p:cNvSpPr txBox="1"/>
          <p:nvPr/>
        </p:nvSpPr>
        <p:spPr>
          <a:xfrm>
            <a:off x="822960" y="5532120"/>
            <a:ext cx="10607040" cy="640080"/>
          </a:xfrm>
          <a:prstGeom prst="rect">
            <a:avLst/>
          </a:prstGeom>
          <a:noFill/>
          <a:ln/>
        </p:spPr>
        <p:txBody>
          <a:bodyPr wrap="square" lIns="0" tIns="0" rIns="0" bIns="0" rtlCol="0" anchor="ctr"/>
          <a:lstStyle/>
          <a:p>
            <a:pPr indent="0" marL="0">
              <a:buNone/>
            </a:pPr>
            <a:r>
              <a:rPr lang="en-US" sz="1400" b="1" dirty="0">
                <a:solidFill>
                  <a:srgbClr val="1A1A1B"/>
                </a:solidFill>
                <a:latin typeface="Arial" pitchFamily="34" charset="0"/>
                <a:ea typeface="Arial" pitchFamily="34" charset="-122"/>
                <a:cs typeface="Arial" pitchFamily="34" charset="-120"/>
              </a:rPr>
              <a:t>In RL the environment creates the learning signal, so a silent bug does not just misreport results: it corrupts what the agent learns.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213"/>
        </a:solidFill>
      </p:bgPr>
    </p:bg>
    <p:spTree>
      <p:nvGrpSpPr>
        <p:cNvPr id="1" name=""/>
        <p:cNvGrpSpPr/>
        <p:nvPr/>
      </p:nvGrpSpPr>
      <p:grpSpPr>
        <a:xfrm>
          <a:off x="0" y="0"/>
          <a:ext cx="0" cy="0"/>
          <a:chOff x="0" y="0"/>
          <a:chExt cx="0" cy="0"/>
        </a:xfrm>
      </p:grpSpPr>
      <p:sp>
        <p:nvSpPr>
          <p:cNvPr id="2" name="Text 0"/>
          <p:cNvSpPr txBox="1"/>
          <p:nvPr/>
        </p:nvSpPr>
        <p:spPr>
          <a:xfrm>
            <a:off x="731520" y="640080"/>
            <a:ext cx="329184" cy="329184"/>
          </a:xfrm>
          <a:prstGeom prst="roundRect">
            <a:avLst>
              <a:gd name="adj" fmla="val 16667"/>
            </a:avLst>
          </a:prstGeom>
          <a:solidFill>
            <a:srgbClr val="6AAA64"/>
          </a:solidFill>
          <a:ln>
            <a:solidFill>
              <a:srgbClr val="6AAA64"/>
            </a:solidFill>
          </a:ln>
        </p:spPr>
        <p:txBody>
          <a:bodyPr wrap="square" lIns="0" tIns="0" rIns="0" bIns="0" rtlCol="0" anchor="ctr"/>
          <a:lstStyle/>
          <a:p>
            <a:pPr algn="ctr" indent="0" marL="0">
              <a:buNone/>
            </a:pPr>
            <a:endParaRPr lang="en-US" sz="2000" dirty="0"/>
          </a:p>
        </p:txBody>
      </p:sp>
      <p:sp>
        <p:nvSpPr>
          <p:cNvPr id="3" name="Text 1"/>
          <p:cNvSpPr txBox="1"/>
          <p:nvPr/>
        </p:nvSpPr>
        <p:spPr>
          <a:xfrm>
            <a:off x="1115568" y="640080"/>
            <a:ext cx="329184" cy="329184"/>
          </a:xfrm>
          <a:prstGeom prst="roundRect">
            <a:avLst>
              <a:gd name="adj" fmla="val 16667"/>
            </a:avLst>
          </a:prstGeom>
          <a:solidFill>
            <a:srgbClr val="C9B458"/>
          </a:solidFill>
          <a:ln>
            <a:solidFill>
              <a:srgbClr val="C9B458"/>
            </a:solidFill>
          </a:ln>
        </p:spPr>
        <p:txBody>
          <a:bodyPr wrap="square" lIns="0" tIns="0" rIns="0" bIns="0" rtlCol="0" anchor="ctr"/>
          <a:lstStyle/>
          <a:p>
            <a:pPr algn="ctr" indent="0" marL="0">
              <a:buNone/>
            </a:pPr>
            <a:endParaRPr lang="en-US" sz="2000" dirty="0"/>
          </a:p>
        </p:txBody>
      </p:sp>
      <p:sp>
        <p:nvSpPr>
          <p:cNvPr id="4" name="Text 2"/>
          <p:cNvSpPr txBox="1"/>
          <p:nvPr/>
        </p:nvSpPr>
        <p:spPr>
          <a:xfrm>
            <a:off x="1499616" y="640080"/>
            <a:ext cx="329184" cy="329184"/>
          </a:xfrm>
          <a:prstGeom prst="roundRect">
            <a:avLst>
              <a:gd name="adj" fmla="val 16667"/>
            </a:avLst>
          </a:prstGeom>
          <a:solidFill>
            <a:srgbClr val="787C7E"/>
          </a:solidFill>
          <a:ln>
            <a:solidFill>
              <a:srgbClr val="787C7E"/>
            </a:solidFill>
          </a:ln>
        </p:spPr>
        <p:txBody>
          <a:bodyPr wrap="square" lIns="0" tIns="0" rIns="0" bIns="0" rtlCol="0" anchor="ctr"/>
          <a:lstStyle/>
          <a:p>
            <a:pPr algn="ctr" indent="0" marL="0">
              <a:buNone/>
            </a:pPr>
            <a:endParaRPr lang="en-US" sz="2000" dirty="0"/>
          </a:p>
        </p:txBody>
      </p:sp>
      <p:sp>
        <p:nvSpPr>
          <p:cNvPr id="5" name="Text 3"/>
          <p:cNvSpPr txBox="1"/>
          <p:nvPr/>
        </p:nvSpPr>
        <p:spPr>
          <a:xfrm>
            <a:off x="2011680" y="566928"/>
            <a:ext cx="8229600" cy="5029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Conclusion</a:t>
            </a:r>
            <a:endParaRPr lang="en-US" sz="3200" dirty="0"/>
          </a:p>
        </p:txBody>
      </p:sp>
      <p:sp>
        <p:nvSpPr>
          <p:cNvPr id="6" name="Shape 4"/>
          <p:cNvSpPr/>
          <p:nvPr/>
        </p:nvSpPr>
        <p:spPr>
          <a:xfrm>
            <a:off x="731520" y="1508760"/>
            <a:ext cx="3383280" cy="2103120"/>
          </a:xfrm>
          <a:prstGeom prst="roundRect">
            <a:avLst>
              <a:gd name="adj" fmla="val 3478"/>
            </a:avLst>
          </a:prstGeom>
          <a:solidFill>
            <a:srgbClr val="1F1F21"/>
          </a:solidFill>
          <a:ln w="19050">
            <a:solidFill>
              <a:srgbClr val="6AAA64"/>
            </a:solidFill>
            <a:prstDash val="solid"/>
          </a:ln>
        </p:spPr>
      </p:sp>
      <p:sp>
        <p:nvSpPr>
          <p:cNvPr id="7" name="Text 5"/>
          <p:cNvSpPr txBox="1"/>
          <p:nvPr/>
        </p:nvSpPr>
        <p:spPr>
          <a:xfrm>
            <a:off x="1005840" y="1737360"/>
            <a:ext cx="2834640" cy="411480"/>
          </a:xfrm>
          <a:prstGeom prst="rect">
            <a:avLst/>
          </a:prstGeom>
          <a:noFill/>
          <a:ln/>
        </p:spPr>
        <p:txBody>
          <a:bodyPr wrap="square" lIns="0" tIns="0" rIns="0" bIns="0" rtlCol="0" anchor="t"/>
          <a:lstStyle/>
          <a:p>
            <a:pPr indent="0" marL="0">
              <a:buNone/>
            </a:pPr>
            <a:r>
              <a:rPr lang="en-US" sz="1900" b="1" dirty="0">
                <a:solidFill>
                  <a:srgbClr val="6AAA64"/>
                </a:solidFill>
                <a:latin typeface="Arial" pitchFamily="34" charset="0"/>
                <a:ea typeface="Arial" pitchFamily="34" charset="-122"/>
                <a:cs typeface="Arial" pitchFamily="34" charset="-120"/>
              </a:rPr>
              <a:t>We built it</a:t>
            </a:r>
            <a:endParaRPr lang="en-US" sz="1900" dirty="0"/>
          </a:p>
        </p:txBody>
      </p:sp>
      <p:sp>
        <p:nvSpPr>
          <p:cNvPr id="8" name="Text 6"/>
          <p:cNvSpPr txBox="1"/>
          <p:nvPr/>
        </p:nvSpPr>
        <p:spPr>
          <a:xfrm>
            <a:off x="1005840" y="2240280"/>
            <a:ext cx="2834640" cy="1234440"/>
          </a:xfrm>
          <a:prstGeom prst="rect">
            <a:avLst/>
          </a:prstGeom>
          <a:noFill/>
          <a:ln/>
        </p:spPr>
        <p:txBody>
          <a:bodyPr wrap="square" lIns="0" tIns="0" rIns="0" bIns="0" rtlCol="0" anchor="t"/>
          <a:lstStyle/>
          <a:p>
            <a:pPr indent="0" marL="0">
              <a:buNone/>
            </a:pPr>
            <a:r>
              <a:rPr lang="en-US" sz="1450" dirty="0">
                <a:solidFill>
                  <a:srgbClr val="E8EAED"/>
                </a:solidFill>
                <a:latin typeface="Arial" pitchFamily="34" charset="0"/>
                <a:ea typeface="Arial" pitchFamily="34" charset="-122"/>
                <a:cs typeface="Arial" pitchFamily="34" charset="-120"/>
              </a:rPr>
              <a:t>A full RL pipeline: MDP, DQN, masking, and a live decision-support tool.</a:t>
            </a:r>
            <a:endParaRPr lang="en-US" sz="1450" dirty="0"/>
          </a:p>
        </p:txBody>
      </p:sp>
      <p:sp>
        <p:nvSpPr>
          <p:cNvPr id="9" name="Shape 7"/>
          <p:cNvSpPr/>
          <p:nvPr/>
        </p:nvSpPr>
        <p:spPr>
          <a:xfrm>
            <a:off x="4343400" y="1508760"/>
            <a:ext cx="3383280" cy="2103120"/>
          </a:xfrm>
          <a:prstGeom prst="roundRect">
            <a:avLst>
              <a:gd name="adj" fmla="val 3478"/>
            </a:avLst>
          </a:prstGeom>
          <a:solidFill>
            <a:srgbClr val="1F1F21"/>
          </a:solidFill>
          <a:ln w="19050">
            <a:solidFill>
              <a:srgbClr val="C9B458"/>
            </a:solidFill>
            <a:prstDash val="solid"/>
          </a:ln>
        </p:spPr>
      </p:sp>
      <p:sp>
        <p:nvSpPr>
          <p:cNvPr id="10" name="Text 8"/>
          <p:cNvSpPr txBox="1"/>
          <p:nvPr/>
        </p:nvSpPr>
        <p:spPr>
          <a:xfrm>
            <a:off x="4617720" y="1737360"/>
            <a:ext cx="2834640" cy="411480"/>
          </a:xfrm>
          <a:prstGeom prst="rect">
            <a:avLst/>
          </a:prstGeom>
          <a:noFill/>
          <a:ln/>
        </p:spPr>
        <p:txBody>
          <a:bodyPr wrap="square" lIns="0" tIns="0" rIns="0" bIns="0" rtlCol="0" anchor="t"/>
          <a:lstStyle/>
          <a:p>
            <a:pPr indent="0" marL="0">
              <a:buNone/>
            </a:pPr>
            <a:r>
              <a:rPr lang="en-US" sz="1900" b="1" dirty="0">
                <a:solidFill>
                  <a:srgbClr val="C9B458"/>
                </a:solidFill>
                <a:latin typeface="Arial" pitchFamily="34" charset="0"/>
                <a:ea typeface="Arial" pitchFamily="34" charset="-122"/>
                <a:cs typeface="Arial" pitchFamily="34" charset="-120"/>
              </a:rPr>
              <a:t>Learning works</a:t>
            </a:r>
            <a:endParaRPr lang="en-US" sz="1900" dirty="0"/>
          </a:p>
        </p:txBody>
      </p:sp>
      <p:sp>
        <p:nvSpPr>
          <p:cNvPr id="11" name="Text 9"/>
          <p:cNvSpPr txBox="1"/>
          <p:nvPr/>
        </p:nvSpPr>
        <p:spPr>
          <a:xfrm>
            <a:off x="4617720" y="2240280"/>
            <a:ext cx="2834640" cy="1234440"/>
          </a:xfrm>
          <a:prstGeom prst="rect">
            <a:avLst/>
          </a:prstGeom>
          <a:noFill/>
          <a:ln/>
        </p:spPr>
        <p:txBody>
          <a:bodyPr wrap="square" lIns="0" tIns="0" rIns="0" bIns="0" rtlCol="0" anchor="t"/>
          <a:lstStyle/>
          <a:p>
            <a:pPr indent="0" marL="0">
              <a:buNone/>
            </a:pPr>
            <a:r>
              <a:rPr lang="en-US" sz="1450" dirty="0">
                <a:solidFill>
                  <a:srgbClr val="E8EAED"/>
                </a:solidFill>
                <a:latin typeface="Arial" pitchFamily="34" charset="0"/>
                <a:ea typeface="Arial" pitchFamily="34" charset="-122"/>
                <a:cs typeface="Arial" pitchFamily="34" charset="-120"/>
              </a:rPr>
              <a:t>The agent beats its own untrained baseline at every pool size.</a:t>
            </a:r>
            <a:endParaRPr lang="en-US" sz="1450" dirty="0"/>
          </a:p>
        </p:txBody>
      </p:sp>
      <p:sp>
        <p:nvSpPr>
          <p:cNvPr id="12" name="Shape 10"/>
          <p:cNvSpPr/>
          <p:nvPr/>
        </p:nvSpPr>
        <p:spPr>
          <a:xfrm>
            <a:off x="7955280" y="1508760"/>
            <a:ext cx="3383280" cy="2103120"/>
          </a:xfrm>
          <a:prstGeom prst="roundRect">
            <a:avLst>
              <a:gd name="adj" fmla="val 3478"/>
            </a:avLst>
          </a:prstGeom>
          <a:solidFill>
            <a:srgbClr val="1F1F21"/>
          </a:solidFill>
          <a:ln w="19050">
            <a:solidFill>
              <a:srgbClr val="B8BCC0"/>
            </a:solidFill>
            <a:prstDash val="solid"/>
          </a:ln>
        </p:spPr>
      </p:sp>
      <p:sp>
        <p:nvSpPr>
          <p:cNvPr id="13" name="Text 11"/>
          <p:cNvSpPr txBox="1"/>
          <p:nvPr/>
        </p:nvSpPr>
        <p:spPr>
          <a:xfrm>
            <a:off x="8229600" y="1737360"/>
            <a:ext cx="2834640" cy="411480"/>
          </a:xfrm>
          <a:prstGeom prst="rect">
            <a:avLst/>
          </a:prstGeom>
          <a:noFill/>
          <a:ln/>
        </p:spPr>
        <p:txBody>
          <a:bodyPr wrap="square" lIns="0" tIns="0" rIns="0" bIns="0" rtlCol="0" anchor="t"/>
          <a:lstStyle/>
          <a:p>
            <a:pPr indent="0" marL="0">
              <a:buNone/>
            </a:pPr>
            <a:r>
              <a:rPr lang="en-US" sz="1900" b="1" dirty="0">
                <a:solidFill>
                  <a:srgbClr val="B8BCC0"/>
                </a:solidFill>
                <a:latin typeface="Arial" pitchFamily="34" charset="0"/>
                <a:ea typeface="Arial" pitchFamily="34" charset="-122"/>
                <a:cs typeface="Arial" pitchFamily="34" charset="-120"/>
              </a:rPr>
              <a:t>We checked it</a:t>
            </a:r>
            <a:endParaRPr lang="en-US" sz="1900" dirty="0"/>
          </a:p>
        </p:txBody>
      </p:sp>
      <p:sp>
        <p:nvSpPr>
          <p:cNvPr id="14" name="Text 12"/>
          <p:cNvSpPr txBox="1"/>
          <p:nvPr/>
        </p:nvSpPr>
        <p:spPr>
          <a:xfrm>
            <a:off x="8229600" y="2240280"/>
            <a:ext cx="2834640" cy="1234440"/>
          </a:xfrm>
          <a:prstGeom prst="rect">
            <a:avLst/>
          </a:prstGeom>
          <a:noFill/>
          <a:ln/>
        </p:spPr>
        <p:txBody>
          <a:bodyPr wrap="square" lIns="0" tIns="0" rIns="0" bIns="0" rtlCol="0" anchor="t"/>
          <a:lstStyle/>
          <a:p>
            <a:pPr indent="0" marL="0">
              <a:buNone/>
            </a:pPr>
            <a:r>
              <a:rPr lang="en-US" sz="1450" dirty="0">
                <a:solidFill>
                  <a:srgbClr val="E8EAED"/>
                </a:solidFill>
                <a:latin typeface="Arial" pitchFamily="34" charset="0"/>
                <a:ea typeface="Arial" pitchFamily="34" charset="-122"/>
                <a:cs typeface="Arial" pitchFamily="34" charset="-120"/>
              </a:rPr>
              <a:t>One environment fix gained +16.8 points; four measurement errors corrected.</a:t>
            </a:r>
            <a:endParaRPr lang="en-US" sz="1450" dirty="0"/>
          </a:p>
        </p:txBody>
      </p:sp>
      <p:sp>
        <p:nvSpPr>
          <p:cNvPr id="15" name="Text 13"/>
          <p:cNvSpPr txBox="1"/>
          <p:nvPr/>
        </p:nvSpPr>
        <p:spPr>
          <a:xfrm>
            <a:off x="731520" y="3931920"/>
            <a:ext cx="4572000" cy="274320"/>
          </a:xfrm>
          <a:prstGeom prst="rect">
            <a:avLst/>
          </a:prstGeom>
          <a:noFill/>
          <a:ln/>
        </p:spPr>
        <p:txBody>
          <a:bodyPr wrap="square" lIns="0" tIns="0" rIns="0" bIns="0" rtlCol="0" anchor="t"/>
          <a:lstStyle/>
          <a:p>
            <a:pPr indent="0" marL="0">
              <a:buNone/>
            </a:pPr>
            <a:r>
              <a:rPr lang="en-US" sz="1100" b="1" spc="200" kern="0" dirty="0">
                <a:solidFill>
                  <a:srgbClr val="6AAA64"/>
                </a:solidFill>
                <a:latin typeface="Arial" pitchFamily="34" charset="0"/>
                <a:ea typeface="Arial" pitchFamily="34" charset="-122"/>
                <a:cs typeface="Arial" pitchFamily="34" charset="-120"/>
              </a:rPr>
              <a:t>FUTURE WORK</a:t>
            </a:r>
            <a:endParaRPr lang="en-US" sz="1100" dirty="0"/>
          </a:p>
        </p:txBody>
      </p:sp>
      <p:sp>
        <p:nvSpPr>
          <p:cNvPr id="16" name="Text 14"/>
          <p:cNvSpPr txBox="1"/>
          <p:nvPr/>
        </p:nvSpPr>
        <p:spPr>
          <a:xfrm>
            <a:off x="731520" y="4343400"/>
            <a:ext cx="3474720" cy="548640"/>
          </a:xfrm>
          <a:prstGeom prst="rect">
            <a:avLst/>
          </a:prstGeom>
          <a:noFill/>
          <a:ln/>
        </p:spPr>
        <p:txBody>
          <a:bodyPr wrap="square" lIns="0" tIns="0" rIns="0" bIns="0" rtlCol="0" anchor="t"/>
          <a:lstStyle/>
          <a:p>
            <a:pPr indent="0" marL="0">
              <a:buNone/>
            </a:pPr>
            <a:r>
              <a:rPr lang="en-US" sz="1400" dirty="0">
                <a:solidFill>
                  <a:srgbClr val="C9CCD0"/>
                </a:solidFill>
                <a:latin typeface="Arial" pitchFamily="34" charset="0"/>
                <a:ea typeface="Arial" pitchFamily="34" charset="-122"/>
                <a:cs typeface="Arial" pitchFamily="34" charset="-120"/>
              </a:rPr>
              <a:t>›  Retrain on the corrected environment</a:t>
            </a:r>
            <a:endParaRPr lang="en-US" sz="1400" dirty="0"/>
          </a:p>
        </p:txBody>
      </p:sp>
      <p:sp>
        <p:nvSpPr>
          <p:cNvPr id="17" name="Text 15"/>
          <p:cNvSpPr txBox="1"/>
          <p:nvPr/>
        </p:nvSpPr>
        <p:spPr>
          <a:xfrm>
            <a:off x="4343400" y="4343400"/>
            <a:ext cx="3474720" cy="548640"/>
          </a:xfrm>
          <a:prstGeom prst="rect">
            <a:avLst/>
          </a:prstGeom>
          <a:noFill/>
          <a:ln/>
        </p:spPr>
        <p:txBody>
          <a:bodyPr wrap="square" lIns="0" tIns="0" rIns="0" bIns="0" rtlCol="0" anchor="t"/>
          <a:lstStyle/>
          <a:p>
            <a:pPr indent="0" marL="0">
              <a:buNone/>
            </a:pPr>
            <a:r>
              <a:rPr lang="en-US" sz="1400" dirty="0">
                <a:solidFill>
                  <a:srgbClr val="C9CCD0"/>
                </a:solidFill>
                <a:latin typeface="Arial" pitchFamily="34" charset="0"/>
                <a:ea typeface="Arial" pitchFamily="34" charset="-122"/>
                <a:cs typeface="Arial" pitchFamily="34" charset="-120"/>
              </a:rPr>
              <a:t>›  Stronger mask: block yellow letters from their tested spot</a:t>
            </a:r>
            <a:endParaRPr lang="en-US" sz="1400" dirty="0"/>
          </a:p>
        </p:txBody>
      </p:sp>
      <p:sp>
        <p:nvSpPr>
          <p:cNvPr id="18" name="Text 16"/>
          <p:cNvSpPr txBox="1"/>
          <p:nvPr/>
        </p:nvSpPr>
        <p:spPr>
          <a:xfrm>
            <a:off x="7955280" y="4343400"/>
            <a:ext cx="3474720" cy="548640"/>
          </a:xfrm>
          <a:prstGeom prst="rect">
            <a:avLst/>
          </a:prstGeom>
          <a:noFill/>
          <a:ln/>
        </p:spPr>
        <p:txBody>
          <a:bodyPr wrap="square" lIns="0" tIns="0" rIns="0" bIns="0" rtlCol="0" anchor="t"/>
          <a:lstStyle/>
          <a:p>
            <a:pPr indent="0" marL="0">
              <a:buNone/>
            </a:pPr>
            <a:r>
              <a:rPr lang="en-US" sz="1400" dirty="0">
                <a:solidFill>
                  <a:srgbClr val="C9CCD0"/>
                </a:solidFill>
                <a:latin typeface="Arial" pitchFamily="34" charset="0"/>
                <a:ea typeface="Arial" pitchFamily="34" charset="-122"/>
                <a:cs typeface="Arial" pitchFamily="34" charset="-120"/>
              </a:rPr>
              <a:t>›  Fix the unseen-word test harness</a:t>
            </a:r>
            <a:endParaRPr lang="en-US" sz="1400" dirty="0"/>
          </a:p>
        </p:txBody>
      </p:sp>
      <p:sp>
        <p:nvSpPr>
          <p:cNvPr id="19" name="Text 17"/>
          <p:cNvSpPr txBox="1"/>
          <p:nvPr/>
        </p:nvSpPr>
        <p:spPr>
          <a:xfrm>
            <a:off x="731520" y="5029200"/>
            <a:ext cx="3474720" cy="548640"/>
          </a:xfrm>
          <a:prstGeom prst="rect">
            <a:avLst/>
          </a:prstGeom>
          <a:noFill/>
          <a:ln/>
        </p:spPr>
        <p:txBody>
          <a:bodyPr wrap="square" lIns="0" tIns="0" rIns="0" bIns="0" rtlCol="0" anchor="t"/>
          <a:lstStyle/>
          <a:p>
            <a:pPr indent="0" marL="0">
              <a:buNone/>
            </a:pPr>
            <a:r>
              <a:rPr lang="en-US" sz="1400" dirty="0">
                <a:solidFill>
                  <a:srgbClr val="C9CCD0"/>
                </a:solidFill>
                <a:latin typeface="Arial" pitchFamily="34" charset="0"/>
                <a:ea typeface="Arial" pitchFamily="34" charset="-122"/>
                <a:cs typeface="Arial" pitchFamily="34" charset="-120"/>
              </a:rPr>
              <a:t>›  Use all 12,963 legal guesses</a:t>
            </a:r>
            <a:endParaRPr lang="en-US" sz="1400" dirty="0"/>
          </a:p>
        </p:txBody>
      </p:sp>
      <p:sp>
        <p:nvSpPr>
          <p:cNvPr id="20" name="Text 18"/>
          <p:cNvSpPr txBox="1"/>
          <p:nvPr/>
        </p:nvSpPr>
        <p:spPr>
          <a:xfrm>
            <a:off x="4343400" y="5029200"/>
            <a:ext cx="3474720" cy="548640"/>
          </a:xfrm>
          <a:prstGeom prst="rect">
            <a:avLst/>
          </a:prstGeom>
          <a:noFill/>
          <a:ln/>
        </p:spPr>
        <p:txBody>
          <a:bodyPr wrap="square" lIns="0" tIns="0" rIns="0" bIns="0" rtlCol="0" anchor="t"/>
          <a:lstStyle/>
          <a:p>
            <a:pPr indent="0" marL="0">
              <a:buNone/>
            </a:pPr>
            <a:r>
              <a:rPr lang="en-US" sz="1400" dirty="0">
                <a:solidFill>
                  <a:srgbClr val="C9CCD0"/>
                </a:solidFill>
                <a:latin typeface="Arial" pitchFamily="34" charset="0"/>
                <a:ea typeface="Arial" pitchFamily="34" charset="-122"/>
                <a:cs typeface="Arial" pitchFamily="34" charset="-120"/>
              </a:rPr>
              <a:t>›  Try PPO / SAC and look-ahead search</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213"/>
        </a:solidFill>
      </p:bgPr>
    </p:bg>
    <p:spTree>
      <p:nvGrpSpPr>
        <p:cNvPr id="1" name=""/>
        <p:cNvGrpSpPr/>
        <p:nvPr/>
      </p:nvGrpSpPr>
      <p:grpSpPr>
        <a:xfrm>
          <a:off x="0" y="0"/>
          <a:ext cx="0" cy="0"/>
          <a:chOff x="0" y="0"/>
          <a:chExt cx="0" cy="0"/>
        </a:xfrm>
      </p:grpSpPr>
      <p:sp>
        <p:nvSpPr>
          <p:cNvPr id="2" name="Text 0"/>
          <p:cNvSpPr txBox="1"/>
          <p:nvPr/>
        </p:nvSpPr>
        <p:spPr>
          <a:xfrm>
            <a:off x="3008376" y="2011680"/>
            <a:ext cx="914400" cy="914400"/>
          </a:xfrm>
          <a:prstGeom prst="roundRect">
            <a:avLst>
              <a:gd name="adj" fmla="val 6000"/>
            </a:avLst>
          </a:prstGeom>
          <a:solidFill>
            <a:srgbClr val="6AAA64"/>
          </a:solidFill>
          <a:ln>
            <a:solidFill>
              <a:srgbClr val="6AAA64"/>
            </a:solid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T</a:t>
            </a:r>
            <a:endParaRPr lang="en-US" sz="4000" dirty="0"/>
          </a:p>
        </p:txBody>
      </p:sp>
      <p:sp>
        <p:nvSpPr>
          <p:cNvPr id="3" name="Text 1"/>
          <p:cNvSpPr txBox="1"/>
          <p:nvPr/>
        </p:nvSpPr>
        <p:spPr>
          <a:xfrm>
            <a:off x="4059936" y="2011680"/>
            <a:ext cx="914400" cy="914400"/>
          </a:xfrm>
          <a:prstGeom prst="roundRect">
            <a:avLst>
              <a:gd name="adj" fmla="val 6000"/>
            </a:avLst>
          </a:prstGeom>
          <a:solidFill>
            <a:srgbClr val="C9B458"/>
          </a:solidFill>
          <a:ln>
            <a:solidFill>
              <a:srgbClr val="C9B458"/>
            </a:solid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H</a:t>
            </a:r>
            <a:endParaRPr lang="en-US" sz="4000" dirty="0"/>
          </a:p>
        </p:txBody>
      </p:sp>
      <p:sp>
        <p:nvSpPr>
          <p:cNvPr id="4" name="Text 2"/>
          <p:cNvSpPr txBox="1"/>
          <p:nvPr/>
        </p:nvSpPr>
        <p:spPr>
          <a:xfrm>
            <a:off x="5111496" y="2011680"/>
            <a:ext cx="914400" cy="914400"/>
          </a:xfrm>
          <a:prstGeom prst="roundRect">
            <a:avLst>
              <a:gd name="adj" fmla="val 6000"/>
            </a:avLst>
          </a:prstGeom>
          <a:solidFill>
            <a:srgbClr val="787C7E"/>
          </a:solidFill>
          <a:ln>
            <a:solidFill>
              <a:srgbClr val="787C7E"/>
            </a:solid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a:t>
            </a:r>
            <a:endParaRPr lang="en-US" sz="4000" dirty="0"/>
          </a:p>
        </p:txBody>
      </p:sp>
      <p:sp>
        <p:nvSpPr>
          <p:cNvPr id="5" name="Text 3"/>
          <p:cNvSpPr txBox="1"/>
          <p:nvPr/>
        </p:nvSpPr>
        <p:spPr>
          <a:xfrm>
            <a:off x="6163056" y="2011680"/>
            <a:ext cx="914400" cy="914400"/>
          </a:xfrm>
          <a:prstGeom prst="roundRect">
            <a:avLst>
              <a:gd name="adj" fmla="val 6000"/>
            </a:avLst>
          </a:prstGeom>
          <a:solidFill>
            <a:srgbClr val="6AAA64"/>
          </a:solidFill>
          <a:ln>
            <a:solidFill>
              <a:srgbClr val="6AAA64"/>
            </a:solid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N</a:t>
            </a:r>
            <a:endParaRPr lang="en-US" sz="4000" dirty="0"/>
          </a:p>
        </p:txBody>
      </p:sp>
      <p:sp>
        <p:nvSpPr>
          <p:cNvPr id="6" name="Text 4"/>
          <p:cNvSpPr txBox="1"/>
          <p:nvPr/>
        </p:nvSpPr>
        <p:spPr>
          <a:xfrm>
            <a:off x="7214616" y="2011680"/>
            <a:ext cx="914400" cy="914400"/>
          </a:xfrm>
          <a:prstGeom prst="roundRect">
            <a:avLst>
              <a:gd name="adj" fmla="val 6000"/>
            </a:avLst>
          </a:prstGeom>
          <a:solidFill>
            <a:srgbClr val="C9B458"/>
          </a:solidFill>
          <a:ln>
            <a:solidFill>
              <a:srgbClr val="C9B458"/>
            </a:solid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K</a:t>
            </a:r>
            <a:endParaRPr lang="en-US" sz="4000" dirty="0"/>
          </a:p>
        </p:txBody>
      </p:sp>
      <p:sp>
        <p:nvSpPr>
          <p:cNvPr id="7" name="Text 5"/>
          <p:cNvSpPr txBox="1"/>
          <p:nvPr/>
        </p:nvSpPr>
        <p:spPr>
          <a:xfrm>
            <a:off x="8266176" y="2011680"/>
            <a:ext cx="914400" cy="914400"/>
          </a:xfrm>
          <a:prstGeom prst="roundRect">
            <a:avLst>
              <a:gd name="adj" fmla="val 6000"/>
            </a:avLst>
          </a:prstGeom>
          <a:solidFill>
            <a:srgbClr val="6AAA64"/>
          </a:solidFill>
          <a:ln>
            <a:solidFill>
              <a:srgbClr val="6AAA64"/>
            </a:solid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S</a:t>
            </a:r>
            <a:endParaRPr lang="en-US" sz="4000" dirty="0"/>
          </a:p>
        </p:txBody>
      </p:sp>
      <p:sp>
        <p:nvSpPr>
          <p:cNvPr id="8" name="Text 6"/>
          <p:cNvSpPr txBox="1"/>
          <p:nvPr/>
        </p:nvSpPr>
        <p:spPr>
          <a:xfrm>
            <a:off x="731520" y="3429000"/>
            <a:ext cx="10725912" cy="731520"/>
          </a:xfrm>
          <a:prstGeom prst="rect">
            <a:avLst/>
          </a:prstGeom>
          <a:noFill/>
          <a:ln/>
        </p:spPr>
        <p:txBody>
          <a:bodyPr wrap="square" lIns="0" tIns="0" rIns="0" bIns="0" rtlCol="0" anchor="t"/>
          <a:lstStyle/>
          <a:p>
            <a:pPr algn="ctr" indent="0" marL="0">
              <a:buNone/>
            </a:pPr>
            <a:r>
              <a:rPr lang="en-US" sz="3400" b="1" dirty="0">
                <a:solidFill>
                  <a:srgbClr val="FFFFFF"/>
                </a:solidFill>
                <a:latin typeface="Arial" pitchFamily="34" charset="0"/>
                <a:ea typeface="Arial" pitchFamily="34" charset="-122"/>
                <a:cs typeface="Arial" pitchFamily="34" charset="-120"/>
              </a:rPr>
              <a:t>Questions?</a:t>
            </a:r>
            <a:endParaRPr lang="en-US" sz="3400" dirty="0"/>
          </a:p>
        </p:txBody>
      </p:sp>
      <p:sp>
        <p:nvSpPr>
          <p:cNvPr id="9" name="Text 7"/>
          <p:cNvSpPr txBox="1"/>
          <p:nvPr/>
        </p:nvSpPr>
        <p:spPr>
          <a:xfrm>
            <a:off x="731520" y="4206240"/>
            <a:ext cx="10725912" cy="365760"/>
          </a:xfrm>
          <a:prstGeom prst="rect">
            <a:avLst/>
          </a:prstGeom>
          <a:noFill/>
          <a:ln/>
        </p:spPr>
        <p:txBody>
          <a:bodyPr wrap="square" lIns="0" tIns="0" rIns="0" bIns="0" rtlCol="0" anchor="t"/>
          <a:lstStyle/>
          <a:p>
            <a:pPr algn="ctr" indent="0" marL="0">
              <a:buNone/>
            </a:pPr>
            <a:r>
              <a:rPr lang="en-US" sz="1500" dirty="0">
                <a:solidFill>
                  <a:srgbClr val="9AA0A6"/>
                </a:solidFill>
                <a:latin typeface="Arial" pitchFamily="34" charset="0"/>
                <a:ea typeface="Arial" pitchFamily="34" charset="-122"/>
                <a:cs typeface="Arial" pitchFamily="34" charset="-120"/>
              </a:rPr>
              <a:t>Reinforcement Learning for Wordle  ·  A DQN-Based Decision Support System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Reinforcement Learning for Wordle</dc:title>
  <dc:subject>PptxGenJS Presentation</dc:subject>
  <dc:creator>PptxGenJS</dc:creator>
  <cp:lastModifiedBy>PptxGenJS</cp:lastModifiedBy>
  <cp:revision>1</cp:revision>
  <dcterms:created xsi:type="dcterms:W3CDTF">2026-09-26T15:54:31Z</dcterms:created>
  <dcterms:modified xsi:type="dcterms:W3CDTF">2026-09-26T15:54:31Z</dcterms:modified>
</cp:coreProperties>
</file>